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ӨМНӨГОВЬ АЙМАГ ДАХЬ ТЕХНОЛОГИЙН ДЭЭД СУРГУУЛЬ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1">
                <a:solidFill>
                  <a:srgbClr val="F2F6FA"/>
                </a:solidFill>
                <a:latin typeface="Calibri"/>
              </a:rPr>
              <a:t>Мэдээллийн технологийн тэнхим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РЕСТОРАНЫ ШИРЭЭ ЗАХИАЛГА,</a:t>
            </a:r>
          </a:p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ЦЭС УДИРДЛАГЫН МОБАЙЛ СИСТЕМ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66160"/>
            <a:ext cx="48463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0" i="1">
                <a:solidFill>
                  <a:srgbClr val="F2F6FA"/>
                </a:solidFill>
                <a:latin typeface="Calibri"/>
              </a:rPr>
              <a:t>React Native · Node.js · PostgreSQL · Socket.IO дээр суурилсан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Дипломант: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Эрдэнэтөгсийн Очбадрах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F2F6FA"/>
                </a:solidFill>
                <a:latin typeface="Calibri"/>
              </a:rPr>
              <a:t>IT-XX бүлэг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4632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1" i="0">
                <a:solidFill>
                  <a:srgbClr val="D4A017"/>
                </a:solidFill>
                <a:latin typeface="Calibri"/>
              </a:rPr>
              <a:t>Удирдагч багш: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12080"/>
            <a:ext cx="5029200" cy="28257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mn-MN" sz="1600" b="1" dirty="0">
                <a:solidFill>
                  <a:srgbClr val="FFFFFF"/>
                </a:solidFill>
                <a:latin typeface="Calibri"/>
              </a:rPr>
              <a:t>П. </a:t>
            </a:r>
            <a:r>
              <a:rPr lang="mn-MN" sz="1600" b="1">
                <a:solidFill>
                  <a:srgbClr val="FFFFFF"/>
                </a:solidFill>
                <a:latin typeface="Calibri"/>
              </a:rPr>
              <a:t>Нямбаяр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5577840"/>
            <a:ext cx="50292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F2F6FA"/>
                </a:solidFill>
                <a:latin typeface="Calibri"/>
              </a:rPr>
              <a:t>Ахлах багш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D4A017"/>
                </a:solidFill>
                <a:latin typeface="Calibri"/>
              </a:rPr>
              <a:t>Даланзадгад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Илтгэлийн бүтэц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1. Судалгааны үндэслэл, асуудал, зорилго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2. Функциональ ба функциональ бус шаардлагууд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3. Системийн үйл ажиллагааны ерөнхий танилцуулга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4. AR цэс — бодит орчинд 3D хоолны харагдац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5. Ажилтны цагын бүртгэлийн дэд систем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6. Архитектур, Use Case, ER загвар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7. API, WebSocket, аюулгүй байдал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8. Байршуулалт, туршилтын үр дүн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700">
                <a:solidFill>
                  <a:srgbClr val="1E1E1E"/>
                </a:solidFill>
                <a:latin typeface="Calibri"/>
              </a:rPr>
              <a:t>9. Дүгнэлт, цаашдын ажил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Судалгааны үндэслэл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0" i="1">
                <a:solidFill>
                  <a:srgbClr val="4682B4"/>
                </a:solidFill>
                <a:latin typeface="Calibri"/>
              </a:rPr>
              <a:t>Монголын зоогийн газрын зах зээлийн дижитал шилжилтийн бэлэн байдал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00467F"/>
                </a:solidFill>
                <a:latin typeface="Calibri"/>
              </a:rPr>
              <a:t>4,200+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74320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Монгол дахь нийт зоогийн газар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C62828"/>
                </a:solidFill>
                <a:latin typeface="Calibri"/>
              </a:rP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274320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Захиалгыг гар аргаар авдаг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8745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697480"/>
            <a:ext cx="274320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Захиалгын дундаж хугацаа хэмнэгдэх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737360"/>
            <a:ext cx="27432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18745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556B2F"/>
                </a:solidFill>
                <a:latin typeface="Calibri"/>
              </a:rPr>
              <a:t>~90%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697480"/>
            <a:ext cx="274320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Smartphone-ын нэвтрэлт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11247120" cy="27432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Олон улсын системүүд</a:t>
            </a:r>
            <a:r>
              <a:rPr sz="1400">
                <a:solidFill>
                  <a:srgbClr val="1E1E1E"/>
                </a:solidFill>
                <a:latin typeface="Calibri"/>
              </a:rPr>
              <a:t> — сарын 200–500$+ төлбөртэй, Монгол хэл, QPay/SocialPay-г бүрэн дэмждэггүй.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Орон нутгийн систем</a:t>
            </a:r>
            <a:r>
              <a:rPr sz="1400">
                <a:solidFill>
                  <a:srgbClr val="1E1E1E"/>
                </a:solidFill>
                <a:latin typeface="Calibri"/>
              </a:rPr>
              <a:t> — хүрэлцээгүй, ихэнх нь зөвхөн вэб тулгуурт, мобайл хэрэглэгчид тохирохгүй.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COVID-19 дараах эрэлт</a:t>
            </a:r>
            <a:r>
              <a:rPr sz="1400">
                <a:solidFill>
                  <a:srgbClr val="1E1E1E"/>
                </a:solidFill>
                <a:latin typeface="Calibri"/>
              </a:rPr>
              <a:t> — QR-аар захиалах, контакгүй тооцоо — хэрэглэгчид дадсан.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467F"/>
                </a:solidFill>
                <a:latin typeface="Calibri"/>
              </a:rPr>
              <a:t>▸ Боломж</a:t>
            </a:r>
            <a:r>
              <a:rPr sz="1400">
                <a:solidFill>
                  <a:srgbClr val="1E1E1E"/>
                </a:solidFill>
                <a:latin typeface="Calibri"/>
              </a:rPr>
              <a:t> — Хямд, монгол хэлтэй, мобайл тэргүүлэх, бодит цагийн шийдэл маш бага.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Одоогийн шийдлүүдийн асуудал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Асуудал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Тодорхойлолт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Гадаадын систем үнэтэй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Toast, Square — сарын 200–500 ам.доллар; жижиг зоогийн газарт хэт өндөр.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Монгол хэлний дэмжлэг хомс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Олон улсын системүүд UI-г монголчилдоггүй, мэдэгдэл англиар.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Төлбөрийн интеграц дутмаг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QPay/SocialPay/Monpay-г холбоогүй; зөвхөн Stripe/PayPal.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Мобайл тэргүүлэх шийдэл бага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Ихэнх нь вэб; таблет POS дээр тулгуурласан, гар утсаар хэцүү.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Бодит цагийн шинэчлэл сул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Захиалга, статус удаан ирдэг; гал тогоо–зааланд мэдээлэл алдагдах.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Орон нутгийн дэмжлэг байхгүй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Суурилуулалт, сургалт, дэмжлэг орон нутагт хүрдэггүй.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Зорилго ба зорилтууд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47120" cy="128016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ЗОРИЛГО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Монголын зоогийн газрын онцлогт тохирсон, QR-аар ширээ захиалах,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цэс удирдах, бодит цагийн захиалгын зохицуулалттай, QPay-тэй</a:t>
            </a:r>
          </a:p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интеграц хийсэн mobile-first систем бүтээж, нэвтрүүлэх.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1. Үнэлгээ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Одоогийн системүүдийн харьцуулсан шинжилгээ, оролцогчдын судалгаа.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2. Шаардлага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5468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Функциональ (12), функциональ бус (ISO/IEC 25010, 5 ангилал).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65176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274320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3. Архитектур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15468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Layered + monorepo + бүрэлдэхүүн хэсгүүдийн ялгаралт.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61772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4. Хөгжүүлэлт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Mobile (React Native), API (Express), Socket.IO, PostgreSQL.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43400" y="461772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5. Туршилт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02920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Функциональ, интеграц, ачаалал (k6), хэрэглэхүйн (SUS).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80" y="4526280"/>
            <a:ext cx="3611880" cy="17373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4617720"/>
            <a:ext cx="33375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6. Үнэлгээ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029200"/>
            <a:ext cx="3337560" cy="1143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Хугацаа, алдаа, сэтгэл ханамжийн бодит үзүүлэлт.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Шинэлэг тал ба судалгааны хязгаар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623560" cy="53035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1" i="0">
                <a:solidFill>
                  <a:srgbClr val="00467F"/>
                </a:solidFill>
                <a:latin typeface="Calibri"/>
              </a:rPr>
              <a:t>Шинэлэг тал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303520" cy="46634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AR цэс</a:t>
            </a:r>
            <a:r>
              <a:rPr sz="1300">
                <a:solidFill>
                  <a:srgbClr val="1E1E1E"/>
                </a:solidFill>
                <a:latin typeface="Calibri"/>
              </a:rPr>
              <a:t> — Хоолыг бодит орчинд 3D загвараар харах.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Цагын бүртгэл</a:t>
            </a:r>
            <a:r>
              <a:rPr sz="1300">
                <a:solidFill>
                  <a:srgbClr val="1E1E1E"/>
                </a:solidFill>
                <a:latin typeface="Calibri"/>
              </a:rPr>
              <a:t> — Ажилтны цагийг QR/PIN-ээр автомат бүртгэнэ.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Монгол хэл · QPay</a:t>
            </a:r>
            <a:r>
              <a:rPr sz="1300">
                <a:solidFill>
                  <a:srgbClr val="1E1E1E"/>
                </a:solidFill>
                <a:latin typeface="Calibri"/>
              </a:rPr>
              <a:t> — UI монгол, QPay callback-тай нэгдсэн.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Mobile-first</a:t>
            </a:r>
            <a:r>
              <a:rPr sz="1300">
                <a:solidFill>
                  <a:srgbClr val="1E1E1E"/>
                </a:solidFill>
                <a:latin typeface="Calibri"/>
              </a:rPr>
              <a:t> — React Native нэг codebase — iOS + Android.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Socket.IO бодит цагт</a:t>
            </a:r>
            <a:r>
              <a:rPr sz="1300">
                <a:solidFill>
                  <a:srgbClr val="1E1E1E"/>
                </a:solidFill>
                <a:latin typeface="Calibri"/>
              </a:rPr>
              <a:t> — Захиалга, статусын шинэчлэл 1 сек-д.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Нээлттэй архитектур</a:t>
            </a:r>
            <a:r>
              <a:rPr sz="1300">
                <a:solidFill>
                  <a:srgbClr val="1E1E1E"/>
                </a:solidFill>
                <a:latin typeface="Calibri"/>
              </a:rPr>
              <a:t> — Layered + RBAC + Drizzle ORM — засварлах хялбар.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623560" cy="53035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/>
              </a:rPr>
              <a:t>Хязгаарлалт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46634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Цар хүрээ</a:t>
            </a:r>
            <a:r>
              <a:rPr sz="1300">
                <a:solidFill>
                  <a:srgbClr val="1E1E1E"/>
                </a:solidFill>
                <a:latin typeface="Calibri"/>
              </a:rPr>
              <a:t> — 1 зоогийн газар дээр прототип, олон салбар II шатанд.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Нөөц удирдлага</a:t>
            </a:r>
            <a:r>
              <a:rPr sz="1300">
                <a:solidFill>
                  <a:srgbClr val="1E1E1E"/>
                </a:solidFill>
                <a:latin typeface="Calibri"/>
              </a:rPr>
              <a:t> — Түүхий эдийн анхан шатны хяналт, нарийн нягтлан хөтлөлтгүй.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AR контент</a:t>
            </a:r>
            <a:r>
              <a:rPr sz="1300">
                <a:solidFill>
                  <a:srgbClr val="1E1E1E"/>
                </a:solidFill>
                <a:latin typeface="Calibri"/>
              </a:rPr>
              <a:t> — Эхлэлийн хувилбарт 15–20 хоолны 3D загвар хамрагдана.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Хүргэлт</a:t>
            </a:r>
            <a:r>
              <a:rPr sz="1300">
                <a:solidFill>
                  <a:srgbClr val="1E1E1E"/>
                </a:solidFill>
                <a:latin typeface="Calibri"/>
              </a:rPr>
              <a:t> — Зөвхөн зоогийн газар доторх захиалга, delivery II шатанд.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Сэтгэгдлийн ML</a:t>
            </a:r>
            <a:r>
              <a:rPr sz="1300">
                <a:solidFill>
                  <a:srgbClr val="1E1E1E"/>
                </a:solidFill>
                <a:latin typeface="Calibri"/>
              </a:rPr>
              <a:t> — Рэйтинг бичлэг; автомат sentiment-ийг үгүйсгэсэн.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Оффлайн горим</a:t>
            </a:r>
            <a:r>
              <a:rPr sz="1300">
                <a:solidFill>
                  <a:srgbClr val="1E1E1E"/>
                </a:solidFill>
                <a:latin typeface="Calibri"/>
              </a:rPr>
              <a:t> — Зөвхөн урьдчилан татсан цэс, захиалга онлайн.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 шаардлагууд (FR)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MoSCoW эрэмбэтэй 12 үндсэн шаардлага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6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0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6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Код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Шаардлага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MoSCoW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QR-аар цэс нээх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Ширээ урьдчилан захиалах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Онлайн захиалга үүсгэх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Бодит цагийн мэдэгдэл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QPay-ээр төлбөр хийх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Цэс/бараа CRUD удирдлага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Захиалгын төлөв шинэчлэх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JWT + RBAC аутентикация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Ажилтны панель (кассир)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Менежерийн тайлан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Сэтгэгдэл, үнэлгээ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FR-12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Нөөцийн автомат хасалт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E1E1E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M = Must (заавал), S = Should (хэрэгтэй), C = Could (хүсэмжит)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Функциональ бус шаардлага (ISO/IEC 25010)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86000" cy="9601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28600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Гүйцэтгэл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88720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873252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API p95 &lt; 300мс · WebSocket &lt; 100мс · 200 зэрэг VU · DB QPS ≥ 150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58568"/>
            <a:ext cx="2286000" cy="9601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228600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Найдвартай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байдал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258568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258568"/>
            <a:ext cx="873252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Uptime ≥ 99.5% · MTBF &gt; 720ц · RPO 15мин · RTO 2ц · Auto-restart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28416"/>
            <a:ext cx="2286000" cy="9601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328416"/>
            <a:ext cx="228600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Аюулгүй</a:t>
            </a:r>
          </a:p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байдал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328416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3328416"/>
            <a:ext cx="873252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TLS 1.3 · bcrypt(12) · JWT (15мин) · RBAC · OWASP Top-10 mitigated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98264"/>
            <a:ext cx="2286000" cy="9601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398264"/>
            <a:ext cx="228600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Хэрэглэхүй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398264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4398264"/>
            <a:ext cx="873252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SUS &gt; 75 · WCAG 2.1 AA · Монгол/англи · Touch target ≥ 44px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68112"/>
            <a:ext cx="2286000" cy="9601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228600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Засварлах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5468112"/>
            <a:ext cx="8869680" cy="9601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5468112"/>
            <a:ext cx="8732520" cy="9601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TypeScript · ESLint · Test coverage &gt; 70% · OpenAPI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Системийн үйл ажиллагаа — ерөнхий дүр зураг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Зоогийн газрын үйл ажиллагааг хамарсан 4 гол бүлэг функц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743200" cy="640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QR ширээ захиалга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2743200" cy="1691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46888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QR скан → цэс → захиалга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бодит цагт гал тогоонд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QPay-ээр тооцоо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54480"/>
            <a:ext cx="2743200" cy="6400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554480"/>
            <a:ext cx="27432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 цэс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240280"/>
            <a:ext cx="2743200" cy="1691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246888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Хоолыг 3D загвараар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бодит орчинд байрлуулж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харах боломж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743200" cy="64008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7432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Ажилтны цагын бүртгэл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40280"/>
            <a:ext cx="2743200" cy="1691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55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377440"/>
            <a:ext cx="246888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Ажлын эхлэх/дуусах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QR/PIN нэвтрэлт, дундуур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завсарлага, цалин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743200" cy="64008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27432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Менежерийн панель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2240280"/>
            <a:ext cx="2743200" cy="16916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2377440"/>
            <a:ext cx="246888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Цэс, нөөц, тайлан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борлуулалт, хэрэглэгч</a:t>
            </a:r>
          </a:p>
          <a:p>
            <a:pPr algn="ctr"/>
            <a:r>
              <a:rPr sz="1200" b="0" i="0">
                <a:solidFill>
                  <a:srgbClr val="1E1E1E"/>
                </a:solidFill>
                <a:latin typeface="Calibri"/>
              </a:rPr>
              <a:t>RBAC эрхтэйгээр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97680"/>
            <a:ext cx="11247120" cy="201168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109728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Нэгдсэн үйл ажиллагааны урсгал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00600"/>
            <a:ext cx="10881360" cy="14630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Зочин талаас</a:t>
            </a:r>
            <a:r>
              <a:rPr sz="1300">
                <a:solidFill>
                  <a:srgbClr val="FFFFFF"/>
                </a:solidFill>
                <a:latin typeface="Calibri"/>
              </a:rPr>
              <a:t> — QR → AR цэс (сонголт) → захиалга → QPay → үнэлгээ.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Ажилтан талаас</a:t>
            </a:r>
            <a:r>
              <a:rPr sz="1300">
                <a:solidFill>
                  <a:srgbClr val="FFFFFF"/>
                </a:solidFill>
                <a:latin typeface="Calibri"/>
              </a:rPr>
              <a:t> — Цагаа PIN-ээр эхлүүлэх → захиалга харах → төлөв шинэчлэх.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Менежер талаас</a:t>
            </a:r>
            <a:r>
              <a:rPr sz="1300">
                <a:solidFill>
                  <a:srgbClr val="FFFFFF"/>
                </a:solidFill>
                <a:latin typeface="Calibri"/>
              </a:rPr>
              <a:t> — Тайлан — борлуулалт, нөөц, ажилтны цаг/цалин → шийдвэр.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 цэс — бодит орчинд 3D хоол харах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Хоол захиалахаасаа өмнө бодит хэмжээ, харагдацтай танилцана — Монголд шинэлэг боломж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784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3D загвар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530352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Хоол бүрийг glTF/USDZ форматаар бэлдэж, серверээс stream хэлбэрээр татна.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57784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Ширээн дээр байрлуулах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530352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Камер — гадаргуу илрүүлж, бодит хэмжээгээр харуулна (ARKit · ARCore).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557784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Масштаб, эргэлт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530352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Pinch · drag — хэрэглэгч эргүүлэн, томруулж харах.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63240"/>
            <a:ext cx="557784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15468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Шууд захиалга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66160"/>
            <a:ext cx="530352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3D харагдацаас «Захиалах» товчлуур — 1 товшилтоор сагсанд.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26280"/>
            <a:ext cx="11247120" cy="178308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109728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Хэрэглэгчид өгөх үр нөлөө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881360" cy="128016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▸ Итгэл</a:t>
            </a:r>
            <a:r>
              <a:rPr sz="1200">
                <a:solidFill>
                  <a:srgbClr val="FFFFFF"/>
                </a:solidFill>
                <a:latin typeface="Calibri"/>
              </a:rPr>
              <a:t> — «Юу ирэх вэ?» гэсэн таамаг арилж — сэтгэл ханамж + 23%.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▸ Дундаж захиалгын үнэ</a:t>
            </a:r>
            <a:r>
              <a:rPr sz="1200">
                <a:solidFill>
                  <a:srgbClr val="FFFFFF"/>
                </a:solidFill>
                <a:latin typeface="Calibri"/>
              </a:rPr>
              <a:t> — Харагдах нөлөөгөөр тусгай/өндөр үнэтэй хоол +18% өсөх пилотын дата.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4A017"/>
                </a:solidFill>
                <a:latin typeface="Calibri"/>
              </a:rPr>
              <a:t>▸ Хэл хамаарахгүй</a:t>
            </a:r>
            <a:r>
              <a:rPr sz="1200">
                <a:solidFill>
                  <a:srgbClr val="FFFFFF"/>
                </a:solidFill>
                <a:latin typeface="Calibri"/>
              </a:rPr>
              <a:t> — Зураг/3D — гадаад зочин ч ойлгоно.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AR цэс — техник хэрэгжилт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Давхарга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Технологи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Тайлбар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ARKit + RealityKit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USDZ формат · plane detection · native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Android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ARCore + Sceneform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glTF/glb формат · anchor API · &gt;85% төхөөрөмж дэмжинэ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Cross-platform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expo-three + three.js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React Native доторх 3D rendering — нэг codebase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Контент (CDN)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S3 + CloudFront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Загварууд түлхүүр бүхий URL-ээр cache-тэй stream хийнэ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Оновчлол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Draco compression + LOD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3D файл 60–80% жижигрэх · бага интернет — 3G-д 3–5 сек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Fallback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Зураг / видео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AR дэмжихгүй утсанд автоматаар зургийн цэс руу шилжинэ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892040"/>
            <a:ext cx="112471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Үйл ажиллагааны урсгал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① Цэсээс хоол сонгох  →  ② «AR-аар харах»  →  ③ Камераар гадаргуу илрүүлэх  →  ④ 3D загвар байрлуулах  →  ⑤ Захиалгын сагсанд нэмэх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Ажилтны цагын бүртгэлийн дэд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Ажилтны ажлын цаг, завсарлагыг автомат бүртгэж, цалинтай холбодог нэгдсэн шийдэл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QR / PIN нэвтрэлт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Ажилтан цагаа эхлүүлэхдээ зориулалтын QR скан хийх эсвэл 4–6 оронтой PIN оруулах.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55448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645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Shift / ээлж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05740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Өглөө/орой/шөнө ээлжийг тодорхойлно, менежер төлөвлөнө, мэдэгдэл очно.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80" y="1645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Завсарлага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5740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Ажилтан «завсарлаа» товшино — цаг тооцооноос автоматаар хасна.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3375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Илүү цаг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Хуваарьтаас гадна ажилласан цагийг тэмдэглэн, менежер баталгаажуулна.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24612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33375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Цалин тооцоо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74904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Цаг × цагийн төлбөр + илүү цагийн коэф. — менежерийн панельд сараар.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246120"/>
            <a:ext cx="37033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3880" y="33375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556B2F"/>
                </a:solidFill>
                <a:latin typeface="Calibri"/>
              </a:rPr>
              <a:t>Тайлан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749040"/>
            <a:ext cx="3429000" cy="9601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PDF / Excel-ээр — Т1 цалин, Т2 ирц, Т3 ажлын дундаж хугацаа.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124712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1">
                <a:solidFill>
                  <a:srgbClr val="606060"/>
                </a:solidFill>
                <a:latin typeface="Calibri"/>
              </a:rPr>
              <a:t>Уламжлалт — цаасан дээр / Excel-д бүртгэл хийдэг алдаа ихтэй, маргаантай процессыг бүрэн автоматжуулна. Хар ажлын цагийг бууруулж, цалингийн маргааныг шийдэж, менежерт бодит цагт ирцийн харагдац өгнө.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Цагын бүртгэл — техник хэрэгжилт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5029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556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Өгөгдлийн сангийн бүтэц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56B2F"/>
                </a:solidFill>
                <a:latin typeface="Consolas"/>
              </a:rPr>
              <a:t>employees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id UUID PK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user_id → users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position · hourly_rate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pin_code · qr_token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is_active</a:t>
            </a:r>
          </a:p>
          <a:p>
            <a:r>
              <a:rPr sz="1200" b="1">
                <a:solidFill>
                  <a:srgbClr val="556B2F"/>
                </a:solidFill>
                <a:latin typeface="Consolas"/>
              </a:rPr>
              <a:t>shifts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id UUID PK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employee_id FK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start_planned · end_planned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shift_type enum(morning|evening|night)</a:t>
            </a:r>
          </a:p>
          <a:p>
            <a:r>
              <a:rPr sz="1200" b="1">
                <a:solidFill>
                  <a:srgbClr val="556B2F"/>
                </a:solidFill>
                <a:latin typeface="Consolas"/>
              </a:rPr>
              <a:t>time_logs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id UUID PK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employee_id FK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check_in · check_out TIMESTAMP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break_minutes INT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overtime_minutes INT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source enum(qr|pin|manual)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status enum(open|closed|disputed)</a:t>
            </a:r>
          </a:p>
          <a:p>
            <a:r>
              <a:rPr sz="1200" b="1">
                <a:solidFill>
                  <a:srgbClr val="556B2F"/>
                </a:solidFill>
                <a:latin typeface="Consolas"/>
              </a:rPr>
              <a:t>payroll_periods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id UUID PK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month · year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total_hours NUMERIC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overtime NUMERIC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gross_pay NUMERIC</a:t>
            </a:r>
          </a:p>
          <a:p>
            <a:pPr lvl="1"/>
            <a:r>
              <a:rPr sz="1000">
                <a:solidFill>
                  <a:srgbClr val="1E1E1E"/>
                </a:solidFill>
                <a:latin typeface="Consolas"/>
              </a:rPr>
              <a:t>  approved_by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5029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39496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API ба логик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394960" cy="438912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POST /time/check-in</a:t>
            </a:r>
            <a:r>
              <a:rPr sz="1200">
                <a:solidFill>
                  <a:srgbClr val="1E1E1E"/>
                </a:solidFill>
                <a:latin typeface="Calibri"/>
              </a:rPr>
              <a:t> — QR token / PIN-ээр баталгаажуулж time_logs үүсгэнэ.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POST /time/check-out</a:t>
            </a:r>
            <a:r>
              <a:rPr sz="1200">
                <a:solidFill>
                  <a:srgbClr val="1E1E1E"/>
                </a:solidFill>
                <a:latin typeface="Calibri"/>
              </a:rPr>
              <a:t> — Нийт цагаас завсарлага хасаж хаана.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POST /time/break</a:t>
            </a:r>
            <a:r>
              <a:rPr sz="1200">
                <a:solidFill>
                  <a:srgbClr val="1E1E1E"/>
                </a:solidFill>
                <a:latin typeface="Calibri"/>
              </a:rPr>
              <a:t> — Эхлэл/төгсгөл — break_minutes автомат нэмнэ.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GET /time/me</a:t>
            </a:r>
            <a:r>
              <a:rPr sz="1200">
                <a:solidFill>
                  <a:srgbClr val="1E1E1E"/>
                </a:solidFill>
                <a:latin typeface="Calibri"/>
              </a:rPr>
              <a:t> — Ажилтны одоогийн хуваарь, өнөөдрийн лог.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GET /payroll/:month</a:t>
            </a:r>
            <a:r>
              <a:rPr sz="1200">
                <a:solidFill>
                  <a:srgbClr val="1E1E1E"/>
                </a:solidFill>
                <a:latin typeface="Calibri"/>
              </a:rPr>
              <a:t> — Сарын цалингийн товч (менежер).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Socket:time:update</a:t>
            </a:r>
            <a:r>
              <a:rPr sz="1200">
                <a:solidFill>
                  <a:srgbClr val="1E1E1E"/>
                </a:solidFill>
                <a:latin typeface="Calibri"/>
              </a:rPr>
              <a:t> — Менежерийн панельд бодит цагт ирц харагдана.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Цалин томьёо</a:t>
            </a:r>
            <a:r>
              <a:rPr sz="1200">
                <a:solidFill>
                  <a:srgbClr val="1E1E1E"/>
                </a:solidFill>
                <a:latin typeface="Calibri"/>
              </a:rPr>
              <a:t> — (цаг × rate) + (илүү цаг × rate × 1.5).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Хэрэглэгчийн хэрэглээний диаграм (Use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01752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137160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Хэрэглэгч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502920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137160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Зочин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(QR)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237744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0" y="2377440"/>
            <a:ext cx="137160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Ажилтан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(кассир/менежер)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5029200"/>
            <a:ext cx="1371600" cy="1463040"/>
          </a:xfrm>
          <a:prstGeom prst="round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0" y="5029200"/>
            <a:ext cx="1371600" cy="1463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Гал тогоо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1280160"/>
            <a:ext cx="8229600" cy="50292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11680" y="1325880"/>
            <a:ext cx="8229600" cy="3200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1" i="1">
                <a:solidFill>
                  <a:srgbClr val="00467F"/>
                </a:solidFill>
                <a:latin typeface="Calibri"/>
              </a:rPr>
              <a:t>Системийн хил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40280" y="178308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ЮК-01 QR уншуулах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78308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ЮК-02 Цэс үзэх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78308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ЮК-03 Захиалга өгөх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40280" y="251460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ЮК-04 Ширээ сонгох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251460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ЮК-05 QPay төлбөр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251460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251460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ЮК-06 Бүртгэл/нэвтрэлт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324612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ЮК-07 Захиалга баталгаажуулах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324612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ЮК-08 Цэс удирдах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3246120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3246120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ЮК-09 Тайлан харах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24028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40280" y="3977639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ЮК-10 Нөөц удирдах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3484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34840" y="3977639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ЮК-11 Хоол бэлтгэх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3977639"/>
            <a:ext cx="21031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29400" y="3977639"/>
            <a:ext cx="2103120" cy="5943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0" i="0">
                <a:solidFill>
                  <a:srgbClr val="1E1E1E"/>
                </a:solidFill>
                <a:latin typeface="Calibri"/>
              </a:rPr>
              <a:t>ЮК-12 Төлөв шинэчлэх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754880"/>
            <a:ext cx="8229600" cy="1371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include: «QR уншуулах» → «Цэс үзэх»; «Захиалга өгөх» → «QPay төлбөр»</a:t>
            </a:r>
          </a:p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extend: «Захиалга өгөх» ← «Ширээ сонгох» (зоогийн газар дотор)</a:t>
            </a:r>
          </a:p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Нийт 4 role × 12 use case = 48 эрхийн холбоос (RBAC матриц).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Системийн архитектур (Layered)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18320" cy="9144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188720"/>
            <a:ext cx="29260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188720"/>
            <a:ext cx="630936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React Native (Expo) · iOS/Android · React Navigation · Zustand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176272"/>
            <a:ext cx="9418320" cy="9144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2176272"/>
            <a:ext cx="29260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76272"/>
            <a:ext cx="630936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Node.js · Express · Socket.IO · JWT middleware · 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163824"/>
            <a:ext cx="9418320" cy="914400"/>
          </a:xfrm>
          <a:prstGeom prst="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163824"/>
            <a:ext cx="29260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63824"/>
            <a:ext cx="630936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Захиалга, менежмент, тооцоо, нөөц хасалт, гүйлгээ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151376"/>
            <a:ext cx="9418320" cy="914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4151376"/>
            <a:ext cx="29260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51376"/>
            <a:ext cx="630936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Drizzle ORM · Migration · ACID гүйлгээ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138928"/>
            <a:ext cx="9418320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5138928"/>
            <a:ext cx="29260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38928"/>
            <a:ext cx="630936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PostgreSQL 16 · Redis (cache/session) · S3 (зураг)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1188720"/>
            <a:ext cx="914400" cy="49377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1188720"/>
            <a:ext cx="914400" cy="49377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Гадны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систем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—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QPay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SMTP</a:t>
            </a:r>
          </a:p>
          <a:p>
            <a:pPr algn="ctr"/>
            <a:r>
              <a:rPr sz="1000" b="1" i="0">
                <a:solidFill>
                  <a:srgbClr val="00467F"/>
                </a:solidFill>
                <a:latin typeface="Calibri"/>
              </a:rPr>
              <a:t>FCM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Өгөгдлийн сангийн загвар (ER)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role · phone · email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password_hash ·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23444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restaurants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64592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name · address · phone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open_hours · owner_id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188720"/>
            <a:ext cx="3291840" cy="118872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4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4592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 · number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capacity · qr_code ·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278892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menu_items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category_id · name · price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image_url · is_available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20040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name · display_order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743200"/>
            <a:ext cx="3291840" cy="11887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78892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user_id · table_id · status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total · payment_status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34340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order_id · menu_item_id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quantity · 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0" y="434340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inventory_items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75488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restaurant_id · name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quantity · unit · alert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4297680"/>
            <a:ext cx="3291840" cy="118872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0" y="4343400"/>
            <a:ext cx="3291840" cy="4114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table_sessions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754880"/>
            <a:ext cx="3108960" cy="73152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id · table_id · start/end_time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guest_count · total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11680" y="178308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35040" y="178308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35040" y="2377440"/>
            <a:ext cx="0" cy="36576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11680" y="333756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035040" y="3337560"/>
            <a:ext cx="2377440" cy="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11680" y="3337560"/>
            <a:ext cx="6400800" cy="155448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058400" y="2377440"/>
            <a:ext cx="0" cy="1920240"/>
          </a:xfrm>
          <a:prstGeom prst="bentConnector3">
            <a:avLst/>
          </a:prstGeom>
          <a:ln w="19050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Захиалгын дараалал (Sequence)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92024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Хэрэглэгч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0876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51760" y="1188720"/>
            <a:ext cx="192024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Мобайл апп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1188720"/>
            <a:ext cx="192024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сервер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4944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1188720"/>
            <a:ext cx="192024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Socket.IO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144000" y="1188720"/>
            <a:ext cx="1920240" cy="4572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188720"/>
            <a:ext cx="1920240" cy="4572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1645920"/>
            <a:ext cx="0" cy="4572000"/>
          </a:xfrm>
          <a:prstGeom prst="line">
            <a:avLst/>
          </a:prstGeom>
          <a:ln w="12700">
            <a:solidFill>
              <a:srgbClr val="606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508760" y="18288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548760" y="15544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1: QR уншуулах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11880" y="22860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651880" y="20116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2: POST /orders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15000" y="2743200"/>
            <a:ext cx="7315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55000" y="24688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3: validate + auth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15000" y="3200400"/>
            <a:ext cx="4389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55000" y="29260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4: INSERT orders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715000" y="3657600"/>
            <a:ext cx="4389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55000" y="33832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5: return id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15000" y="4114800"/>
            <a:ext cx="219456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55000" y="38404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6: emit «order:new»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3611880" y="4572000"/>
            <a:ext cx="429768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51880" y="42976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7: broadcast → staff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611880" y="50292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1880" y="47548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8: 201 Created JSON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508760" y="5486400"/>
            <a:ext cx="2103120" cy="0"/>
          </a:xfrm>
          <a:prstGeom prst="bentConnector3">
            <a:avLst/>
          </a:prstGeom>
          <a:ln w="19050">
            <a:solidFill>
              <a:srgbClr val="4682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48760" y="5212080"/>
            <a:ext cx="3657600" cy="2286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 i="0">
                <a:solidFill>
                  <a:srgbClr val="00467F"/>
                </a:solidFill>
                <a:latin typeface="Calibri"/>
              </a:rPr>
              <a:t>9: UI update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Socket.IO эвэнт ба бодит цаг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54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6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Эвэнт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Чиглэл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Тайлбар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Клиент → 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Шинэ захиалга үүсэхэд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order:update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Захиалгын төлөв өөрчлөгдөхөд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order:cancelled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Захиалгыг цуцлахад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table:occupied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Ширээ эзлэгдсэн/чөлөөлөгдсөн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kitchen:ready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Клиент → Сервер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Хоол бэлэн болсон мэдэгдэл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payment:paid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QPay callback ирсний дараа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menu:updated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Цэс өөрчлөлт (admin хийх үед)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inventory:low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Нөөцийн анхааруулга (min_qty)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staff:notify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Сервер → Клиент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Ажилтанд чиглэсэн мэдэгдэл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Room: restaurant:{id} · user:{id} · table:{id} — зөвхөн хамаатай клиент сонсоно.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REST API endpoint-ууд (30)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Auth (4)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88720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 /auth/register · /auth/login · /auth/refresh · /auth/logout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83664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83664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Users (4)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83664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1883664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GET/PUT /users/me · GET /users/:id · PUT /users/:id/role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78608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Restaurants (3)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578608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71800" y="2578608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/restaurants · GET /restaurants/:id · PUT /restaurants/:id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73552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Tables (4)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273552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71800" y="3273552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/tables · POST /tables · PUT /tables/:id · DELETE /tables/:id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68496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68496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Menu (5)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3968496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3968496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/menu · POST /menu · PUT/DELETE /menu/:id · PATCH /menu/:id/availability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Orders (5)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4663440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71800" y="4663440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/orders · POST /orders · PATCH /orders/:id/status · /cancel · /items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358384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358384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Payments (3)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4640" y="5358384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71800" y="5358384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 /payments · POST /payments/qpay/callback · GET /payments/:id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286000" cy="585216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053328"/>
            <a:ext cx="228600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Inventory (2)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6053328"/>
            <a:ext cx="8869680" cy="585216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71800" y="6053328"/>
            <a:ext cx="8732520" cy="5852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GET /inventory · PATCH /inventory/:id — auto-deduct by order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Аюулгүй байдлын шийдлүүд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JWT (HS256) — access 15 мин, refresh 7 хоног. Rotation, blacklist Redis-т.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188720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Authorization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RBAC middleware — эрх шалгалт endpoint бүрт. Cross-tenant filter restaurant_id-аар.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96312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99232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bcrypt cost=12 · password policy (8+, 1 том, 1 тоо, 1 тэмдэгт).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496312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587752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Transport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99232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TLS 1.3 (Nginx + Let's Encrypt) · HSTS header · secure cookies.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03904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95344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06824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Zod schema validation · parameterized SQL (Drizzle) · HTML-escape (XSS).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803904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895344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Rate-limit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06824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Express-rate-limit Redis store — login 5/min, API 100/min.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11496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5202936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Payment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14416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QPay callback signature verify · idempotent payment_id · HMAC.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111496"/>
            <a:ext cx="5577840" cy="1170432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9360" y="5202936"/>
            <a:ext cx="530352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C62828"/>
                </a:solidFill>
                <a:latin typeface="Calibr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614416"/>
            <a:ext cx="5303520" cy="57607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audit_logs хүснэгт — role-өөрчлөлт, нөөц засвар, нэвтрэлт.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Байршуулалтын архитектур (Deployment)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52120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1">
                <a:solidFill>
                  <a:srgbClr val="00467F"/>
                </a:solidFill>
                <a:latin typeface="Calibri"/>
              </a:rPr>
              <a:t>VPS (Hetzner / DigitalOcean) · Ubuntu 22.04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737360"/>
            <a:ext cx="2286000" cy="91440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228600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Nginx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TLS · reverse proxy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737360"/>
            <a:ext cx="7132320" cy="9144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713232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Docker Compose · api (x2) · worker · redis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926080"/>
            <a:ext cx="3291840" cy="91440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0" y="2926080"/>
            <a:ext cx="329184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api-server  (Node.js)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Port 4000 · stateless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926080"/>
            <a:ext cx="3383280" cy="914400"/>
          </a:xfrm>
          <a:prstGeom prst="roundRect">
            <a:avLst/>
          </a:prstGeom>
          <a:solidFill>
            <a:srgbClr val="55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3383280" cy="9144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worker (BullMQ)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email · report · FCM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3657600" cy="10058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65760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16 (Primary)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streaming replication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114800"/>
            <a:ext cx="2743200" cy="1005840"/>
          </a:xfrm>
          <a:prstGeom prst="round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274320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PostgreSQL (Replica)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read-only · tайлан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114800"/>
            <a:ext cx="3383280" cy="100584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4114800"/>
            <a:ext cx="3383280" cy="10058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Redis (session, cache)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S3 (images, backup)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CI/CD: GitHub Actions → Docker Hub → SSH deploy · Prometheus + Grafana мониторинг</a:t>
            </a:r>
          </a:p>
          <a:p>
            <a:pPr algn="ctr"/>
            <a:r>
              <a:rPr sz="1200" b="0" i="1">
                <a:solidFill>
                  <a:srgbClr val="606060"/>
                </a:solidFill>
                <a:latin typeface="Calibri"/>
              </a:rPr>
              <a:t>Backup: PostgreSQL pg_dump өдөр бүр, S3-д хадгална · Retention 30 хоног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Туршилтын стратеги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Функциональ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Jest (unit) + Supertest (integration) — 140+ кейс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Postman collection + newman CI-д — 50+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28016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Ачаалал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169164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k6 — 200 VU ачаалалт, p95 &lt; 300мс зорилт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Гар (manual)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0040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Test case 60+ (зочин/ажилтан/менежер)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Хэрэглэхүй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20040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SUS survey, 15 хэрэглэгчтэй туршилт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697480"/>
            <a:ext cx="3703320" cy="137160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2788920"/>
            <a:ext cx="34290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Аюулгүй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200400"/>
            <a:ext cx="3429000" cy="777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OWASP ZAP, JWT fuzz, RBAC bypass туршилт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206240"/>
            <a:ext cx="11247120" cy="210312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10972800" cy="4114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500" b="1" i="0">
                <a:solidFill>
                  <a:srgbClr val="D4A017"/>
                </a:solidFill>
                <a:latin typeface="Calibri"/>
              </a:rPr>
              <a:t>Чанарын зорилт (Quality Gates)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Code coverage ≥ 70%</a:t>
            </a:r>
            <a:r>
              <a:rPr sz="1300">
                <a:solidFill>
                  <a:srgbClr val="FFFFFF"/>
                </a:solidFill>
                <a:latin typeface="Calibri"/>
              </a:rPr>
              <a:t> — critical route-уудад ≥ 85%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API p95 &lt; 300мс</a:t>
            </a:r>
            <a:r>
              <a:rPr sz="1300">
                <a:solidFill>
                  <a:srgbClr val="FFFFFF"/>
                </a:solidFill>
                <a:latin typeface="Calibri"/>
              </a:rPr>
              <a:t> — /orders, /menu, /tables endpoint-ууд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SUS &gt; 75</a:t>
            </a:r>
            <a:r>
              <a:rPr sz="1300">
                <a:solidFill>
                  <a:srgbClr val="FFFFFF"/>
                </a:solidFill>
                <a:latin typeface="Calibri"/>
              </a:rPr>
              <a:t> — Good — industry benchmark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4A017"/>
                </a:solidFill>
                <a:latin typeface="Calibri"/>
              </a:rPr>
              <a:t>▸ Zero critical CVE</a:t>
            </a:r>
            <a:r>
              <a:rPr sz="1300">
                <a:solidFill>
                  <a:srgbClr val="FFFFFF"/>
                </a:solidFill>
                <a:latin typeface="Calibri"/>
              </a:rPr>
              <a:t> — npm audit, Trivy SCA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Ачааллын туршилтын үр дүн (k6)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240мс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API p95 хариу (зорилт &lt; 300)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72мс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4028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WebSocket дундаж (зорилт &lt; 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2E7D32"/>
                </a:solidFill>
                <a:latin typeface="Calibri"/>
              </a:rPr>
              <a:t>0.08%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4028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Алдааны хувь (зорилт &lt; 1%)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80160"/>
            <a:ext cx="2743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41732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400" b="1" i="0">
                <a:solidFill>
                  <a:srgbClr val="00467F"/>
                </a:solidFill>
                <a:latin typeface="Calibri"/>
              </a:rPr>
              <a:t>220 VU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743200" cy="8229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Тогтвортой ачаалал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57200" y="3291840"/>
          <a:ext cx="1124711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0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5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03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5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13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VU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API p95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WS dundaj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Алдаа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Төлөв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120мс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22мс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180мс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45мс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0.02%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210мс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240мс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72мс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0.08%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Ок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250 VU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360мс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98мс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Болзошгүй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300 VU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620мс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140мс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1.8%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Хязгаар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Хэрэглэхүйн үнэлгээ (SUS)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5029200" cy="3200400"/>
          </a:xfrm>
          <a:prstGeom prst="roundRect">
            <a:avLst/>
          </a:prstGeom>
          <a:solidFill>
            <a:srgbClr val="00467F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D4A017"/>
                </a:solidFill>
                <a:latin typeface="Calibri"/>
              </a:rPr>
              <a:t>System Usability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029200" cy="219456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Calibri"/>
              </a:rPr>
              <a:t>82.4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Excellent (&gt;80) — industry-ийн дээд гуравны нэгд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760720" y="1188720"/>
          <a:ext cx="5943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Үзүүлэлт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Үр дүн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Нийт оролцогч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15 хүн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Хэрэглэгч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10 (5 зочин, 5 хэрэглэгч)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Ажилтан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3 кассир, 2 менежер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Даалгавар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6 сценари · дундаж 4:32 минут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Амжилттай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93.3% (84/90 даалгавар)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Алдаа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Голчлон QR скан, 2 дахь эргэлтэд 100%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Гол санал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  <a:latin typeface="Calibri"/>
                        </a:rPr>
                        <a:t>Монгол мэдэгдэл, хурдтай, ойлгомжтой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Бодит нөхцөлд турших үр дүн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«Мандуул» ресторан · 3 долоо хоногийн пилот (N=312 хэрэглэгч, 1,480 захиалга)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Захиалга өгөх хугацаа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7 мин → 2:40 мин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64592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Захиалгын алдаа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1168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−74%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517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14% → 3.6%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0" y="164592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Цэсийн шинэчлэлт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−95%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өдөр → шууд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3375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Хэрэглэгчийн ханамж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+41%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4340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3.4 → 4.8 /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51960" y="33375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Ажилтны ачаалал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70332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−38%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34340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90 → 56 алхам/ш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246120"/>
            <a:ext cx="37033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333756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1" i="0">
                <a:solidFill>
                  <a:srgbClr val="1E1E1E"/>
                </a:solidFill>
                <a:latin typeface="Calibri"/>
              </a:rPr>
              <a:t>Тайлангийн хугацаа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703320"/>
            <a:ext cx="370332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3000" b="1" i="0">
                <a:solidFill>
                  <a:srgbClr val="2E7D32"/>
                </a:solidFill>
                <a:latin typeface="Calibri"/>
              </a:rPr>
              <a:t>−90%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343400"/>
            <a:ext cx="37033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2 цаг → 12 мин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400" b="1" i="0">
                <a:solidFill>
                  <a:srgbClr val="00467F"/>
                </a:solidFill>
                <a:latin typeface="Calibri"/>
              </a:rPr>
              <a:t>Өдрийн борлуулалт: +18% · Түүхий эдийн хаягдал: −22% · Хөрөнгө оруулалтын эргэлт (ROI): ~4.5 сар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Дүгнэлт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Бүрэн шийдэл</a:t>
            </a:r>
            <a:r>
              <a:rPr sz="1500">
                <a:solidFill>
                  <a:srgbClr val="1E1E1E"/>
                </a:solidFill>
                <a:latin typeface="Calibri"/>
              </a:rPr>
              <a:t> — Зоогийн газрын ширээ захиалга, цэс удирдлага, төлбөр, тайлангийн бүх мөчлөгийг нэг системд нэгтгэв.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Монголын онцлог</a:t>
            </a:r>
            <a:r>
              <a:rPr sz="1500">
                <a:solidFill>
                  <a:srgbClr val="1E1E1E"/>
                </a:solidFill>
                <a:latin typeface="Calibri"/>
              </a:rPr>
              <a:t> — QPay, монгол хэл, орон нутгийн VPS — 95% хямд, хэрэглэгчид танил.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Хэмжигдэхүйц үр дүн</a:t>
            </a:r>
            <a:r>
              <a:rPr sz="1500">
                <a:solidFill>
                  <a:srgbClr val="1E1E1E"/>
                </a:solidFill>
                <a:latin typeface="Calibri"/>
              </a:rPr>
              <a:t> — Захиалгын хугацаа −62%, алдаа −74%, SUS 82.4 (excellent).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Архитектур</a:t>
            </a:r>
            <a:r>
              <a:rPr sz="1500">
                <a:solidFill>
                  <a:srgbClr val="1E1E1E"/>
                </a:solidFill>
                <a:latin typeface="Calibri"/>
              </a:rPr>
              <a:t> — Layered + monorepo + Docker — 1 хөгжүүлэгчээс 10 хөгжүүлэгч багт ажлын бэлэн бүтэц.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Технологийн баталгаа</a:t>
            </a:r>
            <a:r>
              <a:rPr sz="1500">
                <a:solidFill>
                  <a:srgbClr val="1E1E1E"/>
                </a:solidFill>
                <a:latin typeface="Calibri"/>
              </a:rPr>
              <a:t> — 12 FR, 25+ NFR, 30 API, 9 Socket эвэнт, 9 үндсэн entity — бүгд туршигдсан.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7D32"/>
                </a:solidFill>
                <a:latin typeface="Calibri"/>
              </a:rPr>
              <a:t>▸ Бизнес утга</a:t>
            </a:r>
            <a:r>
              <a:rPr sz="1500">
                <a:solidFill>
                  <a:srgbClr val="1E1E1E"/>
                </a:solidFill>
                <a:latin typeface="Calibri"/>
              </a:rPr>
              <a:t> — ROI ≈ 4.5 сар, борлуулалт +18% — Монголын SME-д хүртээмжтэй цифр шилжилт.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Цаашдын судалгааны чиглэл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521208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Олон салбарт</a:t>
            </a:r>
            <a:r>
              <a:rPr sz="1400">
                <a:solidFill>
                  <a:srgbClr val="1E1E1E"/>
                </a:solidFill>
                <a:latin typeface="Calibri"/>
              </a:rPr>
              <a:t> — Нэг толгой компани, олон ресторан — мульти-тенант панель, тусгай эрхийн бүтэц.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AR номхруулалт</a:t>
            </a:r>
            <a:r>
              <a:rPr sz="1400">
                <a:solidFill>
                  <a:srgbClr val="1E1E1E"/>
                </a:solidFill>
                <a:latin typeface="Calibri"/>
              </a:rPr>
              <a:t> — Одоогийн 15–20 загвараас — бүх цэсийг 3D болгох, Neural Radiance Fields хэрэглэх.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ML санал</a:t>
            </a:r>
            <a:r>
              <a:rPr sz="1400">
                <a:solidFill>
                  <a:srgbClr val="1E1E1E"/>
                </a:solidFill>
                <a:latin typeface="Calibri"/>
              </a:rPr>
              <a:t> — Захиалгын түүхэнд суурилсан персонал санал (collaborative filtering).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Voice захиалга</a:t>
            </a:r>
            <a:r>
              <a:rPr sz="1400">
                <a:solidFill>
                  <a:srgbClr val="1E1E1E"/>
                </a:solidFill>
                <a:latin typeface="Calibri"/>
              </a:rPr>
              <a:t> — Mongolian ASR интеграц — ярианы захиалга, ахмадуудад зориулсан.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Delivery</a:t>
            </a:r>
            <a:r>
              <a:rPr sz="1400">
                <a:solidFill>
                  <a:srgbClr val="1E1E1E"/>
                </a:solidFill>
                <a:latin typeface="Calibri"/>
              </a:rPr>
              <a:t> — Хүргэлт, жолоочийн апп, газрын зурагт дагалдан хянах.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Нэгдсэн ERP</a:t>
            </a:r>
            <a:r>
              <a:rPr sz="1400">
                <a:solidFill>
                  <a:srgbClr val="1E1E1E"/>
                </a:solidFill>
                <a:latin typeface="Calibri"/>
              </a:rPr>
              <a:t> — Цагын бүртгэл дээр цалин, татвар, нягтлан гүн интеграц.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D4A017"/>
                </a:solidFill>
                <a:latin typeface="Calibri"/>
              </a:rPr>
              <a:t>▸ Глобал</a:t>
            </a:r>
            <a:r>
              <a:rPr sz="1400">
                <a:solidFill>
                  <a:srgbClr val="1E1E1E"/>
                </a:solidFill>
                <a:latin typeface="Calibri"/>
              </a:rPr>
              <a:t> — Stripe, Apple/Google Pay, Англи+Хятад хэл, дэлхийн зах зээлд.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Рестораны ширээ захиалга, цэс удирдлагын мобайл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537960"/>
            <a:ext cx="1828800" cy="3200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АНХААРАЛ</a:t>
            </a:r>
          </a:p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ХАНДУУЛСАНД</a:t>
            </a:r>
          </a:p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БАЯРЛАЛАА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2200" b="0" i="1">
                <a:solidFill>
                  <a:srgbClr val="D4A017"/>
                </a:solidFill>
                <a:latin typeface="Calibri"/>
              </a:rPr>
              <a:t>Асуулт хэлэлцүүлэг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Эрдэнэтөгсийн Очбадрах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300" b="0" i="0">
                <a:solidFill>
                  <a:srgbClr val="F2F6FA"/>
                </a:solidFill>
                <a:latin typeface="Calibri"/>
              </a:rPr>
              <a:t>sergelenbayar0@gmail.com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1200" b="0" i="1">
                <a:solidFill>
                  <a:srgbClr val="F2F6FA"/>
                </a:solidFill>
                <a:latin typeface="Calibri"/>
              </a:rPr>
              <a:t>Өмнөговь аймаг дахь Технологийн Дээд Сургууль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8738</TotalTime>
  <Words>3563</Words>
  <Application>Microsoft Office PowerPoint</Application>
  <PresentationFormat>Widescreen</PresentationFormat>
  <Paragraphs>651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Эрдэнэтөгс Очбадрах</cp:lastModifiedBy>
  <cp:revision>2</cp:revision>
  <dcterms:created xsi:type="dcterms:W3CDTF">2013-01-27T09:14:16Z</dcterms:created>
  <dcterms:modified xsi:type="dcterms:W3CDTF">2026-04-30T06:03:56Z</dcterms:modified>
  <cp:category/>
</cp:coreProperties>
</file>