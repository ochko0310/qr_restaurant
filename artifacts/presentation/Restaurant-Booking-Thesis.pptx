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0467F"/>
                </a:solidFill>
                <a:latin typeface="Calibri"/>
              </a:rPr>
              <a:t>Үнийн харьцуулалт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Сарын үнэ (USD)</c:v>
                </c:pt>
              </c:strCache>
            </c:strRef>
          </c:tx>
          <c:spPr>
            <a:solidFill>
              <a:srgbClr val="C62828"/>
            </a:solidFill>
            <a:ln>
              <a:solidFill>
                <a:srgbClr val="C62828"/>
              </a:solidFill>
            </a:ln>
          </c:spPr>
          <c:cat>
            <c:strRef>
              <c:f>Sheet1!$A$2:$A$7</c:f>
              <c:strCache>
                <c:ptCount val="6"/>
                <c:pt idx="0">
                  <c:v>Toast POS</c:v>
                </c:pt>
                <c:pt idx="1">
                  <c:v>Square</c:v>
                </c:pt>
                <c:pt idx="2">
                  <c:v>Lightspeed</c:v>
                </c:pt>
                <c:pt idx="3">
                  <c:v>TouchBistro</c:v>
                </c:pt>
                <c:pt idx="4">
                  <c:v>Resy</c:v>
                </c:pt>
                <c:pt idx="5">
                  <c:v>Монгол систем (энэ)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</c:v>
                </c:pt>
                <c:pt idx="1">
                  <c:v>129</c:v>
                </c:pt>
                <c:pt idx="2">
                  <c:v>189</c:v>
                </c:pt>
                <c:pt idx="3">
                  <c:v>249</c:v>
                </c:pt>
                <c:pt idx="4">
                  <c:v>899</c:v>
                </c:pt>
                <c:pt idx="5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0467F"/>
                </a:solidFill>
                <a:latin typeface="Calibri"/>
              </a:rPr>
              <a:t>Хариуны хугацаа vs ачаалал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p95 (мс)</c:v>
                </c:pt>
              </c:strCache>
            </c:strRef>
          </c:tx>
          <c:spPr>
            <a:solidFill>
              <a:srgbClr val="00467F"/>
            </a:solidFill>
            <a:ln>
              <a:solidFill>
                <a:srgbClr val="00467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180</c:v>
                </c:pt>
                <c:pt idx="2">
                  <c:v>210</c:v>
                </c:pt>
                <c:pt idx="3">
                  <c:v>240</c:v>
                </c:pt>
                <c:pt idx="4">
                  <c:v>360</c:v>
                </c:pt>
                <c:pt idx="5">
                  <c:v>620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WebSocket (мс)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45</c:v>
                </c:pt>
                <c:pt idx="2">
                  <c:v>60</c:v>
                </c:pt>
                <c:pt idx="3">
                  <c:v>72</c:v>
                </c:pt>
                <c:pt idx="4">
                  <c:v>98</c:v>
                </c:pt>
                <c:pt idx="5">
                  <c:v>140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Зорилт p95 (мс)</c:v>
                </c:pt>
              </c:strCache>
            </c:strRef>
          </c:tx>
          <c:spPr>
            <a:solidFill>
              <a:srgbClr val="C62828"/>
            </a:solidFill>
            <a:ln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0467F"/>
                </a:solidFill>
                <a:latin typeface="Calibri"/>
              </a:rPr>
              <a:t>Before vs After — 5 үндсэн үзүүлэлт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Өмнө (гар аргаар)</c:v>
                </c:pt>
              </c:strCache>
            </c:strRef>
          </c:tx>
          <c:spPr>
            <a:solidFill>
              <a:srgbClr val="C62828"/>
            </a:solidFill>
            <a:ln>
              <a:solidFill>
                <a:srgbClr val="C62828"/>
              </a:solidFill>
            </a:ln>
          </c:spPr>
          <c:cat>
            <c:strRef>
              <c:f>Sheet1!$A$2:$A$6</c:f>
              <c:strCache>
                <c:ptCount val="5"/>
                <c:pt idx="0">
                  <c:v>Захиалгын
хугацаа (мин)</c:v>
                </c:pt>
                <c:pt idx="1">
                  <c:v>Захиалгын
алдаа (%)</c:v>
                </c:pt>
                <c:pt idx="2">
                  <c:v>Цэс
шинэчлэл (мин)</c:v>
                </c:pt>
                <c:pt idx="3">
                  <c:v>Хэрэглэгчийн
ханамж (/5)</c:v>
                </c:pt>
                <c:pt idx="4">
                  <c:v>Тайлангийн
хугацаа (мин)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7.0</c:v>
                </c:pt>
                <c:pt idx="1">
                  <c:v>14.0</c:v>
                </c:pt>
                <c:pt idx="2">
                  <c:v>1440</c:v>
                </c:pt>
                <c:pt idx="3">
                  <c:v>3.4</c:v>
                </c:pt>
                <c:pt idx="4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Дараа (систем)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Sheet1!$A$2:$A$6</c:f>
              <c:strCache>
                <c:ptCount val="5"/>
                <c:pt idx="0">
                  <c:v>Захиалгын
хугацаа (мин)</c:v>
                </c:pt>
                <c:pt idx="1">
                  <c:v>Захиалгын
алдаа (%)</c:v>
                </c:pt>
                <c:pt idx="2">
                  <c:v>Цэс
шинэчлэл (мин)</c:v>
                </c:pt>
                <c:pt idx="3">
                  <c:v>Хэрэглэгчийн
ханамж (/5)</c:v>
                </c:pt>
                <c:pt idx="4">
                  <c:v>Тайлангийн
хугацаа (мин)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2.7</c:v>
                </c:pt>
                <c:pt idx="1">
                  <c:v>3.6</c:v>
                </c:pt>
                <c:pt idx="2">
                  <c:v>1</c:v>
                </c:pt>
                <c:pt idx="3">
                  <c:v>4.8</c:v>
                </c:pt>
                <c:pt idx="4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0467F"/>
                </a:solidFill>
                <a:latin typeface="Calibri"/>
              </a:rPr>
              <a:t>SUS нийт оноо = 82.4 / 100 (Excellent)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Дундаж үнэлгээ (эерэг чиг)</c:v>
                </c:pt>
              </c:strCache>
            </c:strRef>
          </c:tx>
          <c:spPr>
            <a:solidFill>
              <a:srgbClr val="00467F"/>
            </a:solidFill>
            <a:ln>
              <a:solidFill>
                <a:srgbClr val="00467F"/>
              </a:solidFill>
            </a:ln>
          </c:spPr>
          <c:cat>
            <c:strRef>
              <c:f>Sheet1!$A$2:$A$11</c:f>
              <c:strCache>
                <c:ptCount val="10"/>
                <c:pt idx="0">
                  <c:v>Q1
Дахин
хэрэглэнэ</c:v>
                </c:pt>
                <c:pt idx="1">
                  <c:v>Q2
Хүндрэлтэй</c:v>
                </c:pt>
                <c:pt idx="2">
                  <c:v>Q3
Хялбар</c:v>
                </c:pt>
                <c:pt idx="3">
                  <c:v>Q4
Тусламж
хэрэгтэй</c:v>
                </c:pt>
                <c:pt idx="4">
                  <c:v>Q5
Функц
нэгдсэн</c:v>
                </c:pt>
                <c:pt idx="5">
                  <c:v>Q6
Зөрчилтэй</c:v>
                </c:pt>
                <c:pt idx="6">
                  <c:v>Q7
Хурдан
сурна</c:v>
                </c:pt>
                <c:pt idx="7">
                  <c:v>Q8
Төвөгтэй</c:v>
                </c:pt>
                <c:pt idx="8">
                  <c:v>Q9
Итгэлтэй</c:v>
                </c:pt>
                <c:pt idx="9">
                  <c:v>Q10
Сурах
ихтэй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4.6</c:v>
                </c:pt>
                <c:pt idx="1">
                  <c:v>1.5</c:v>
                </c:pt>
                <c:pt idx="2">
                  <c:v>4.7</c:v>
                </c:pt>
                <c:pt idx="3">
                  <c:v>1.8</c:v>
                </c:pt>
                <c:pt idx="4">
                  <c:v>4.4</c:v>
                </c:pt>
                <c:pt idx="5">
                  <c:v>1.6</c:v>
                </c:pt>
                <c:pt idx="6">
                  <c:v>4.5</c:v>
                </c:pt>
                <c:pt idx="7">
                  <c:v>1.7</c:v>
                </c:pt>
                <c:pt idx="8">
                  <c:v>4.3</c:v>
                </c:pt>
                <c:pt idx="9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ӨМНӨГОВЬ АЙМАГ ДАХЬ ТЕХНОЛОГИЙН ДЭЭД СУРГУУЛЬ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 i="1">
                <a:solidFill>
                  <a:srgbClr val="F2F6FA"/>
                </a:solidFill>
                <a:latin typeface="Calibri"/>
              </a:rPr>
              <a:t>Мэдээллийн технологийн тэнхим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РЕСТОРАНЫ ШИРЭЭ ЗАХИАЛГА,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ЦЭС УДИРДЛАГЫН МОБАЙЛ СИСТЕМ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66160"/>
            <a:ext cx="48463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 i="1">
                <a:solidFill>
                  <a:srgbClr val="F2F6FA"/>
                </a:solidFill>
                <a:latin typeface="Calibri"/>
              </a:rPr>
              <a:t>React Native · Node.js · PostgreSQL · Socket.IO дээр суурилсан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Дипломант: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Эрдэнэтөгсийн Очбадрах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F2F6FA"/>
                </a:solidFill>
                <a:latin typeface="Calibri"/>
              </a:rPr>
              <a:t>IT-XX бүлэг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Удирдагч багш: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Б. Сэргэлэнбаяр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7784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F2F6FA"/>
                </a:solidFill>
                <a:latin typeface="Calibri"/>
              </a:rPr>
              <a:t>Ахлах багш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D4A017"/>
                </a:solidFill>
                <a:latin typeface="Calibri"/>
              </a:rPr>
              <a:t>Даланзадгад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Илтгэлийн бүтэц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1. Судалгааны сэдвийн үндэслэл, асуудал, зорилго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2. Одоогийн шийдлүүдтэй харьцуулсан судалгаа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3. Функциональ ба функциональ бус шаардлагууд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4. Системийн архитектур, технологи сонголт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5. Хэрэглэгчийн хэрэглээний диаграм (Use Case)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6. Өгөгдлийн сангийн загвар (ER диаграм)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7. Гол бизнес процессуудын дараалал (Sequence)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8. API, WebSocket, аюулгүй байдал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9. Байршуулалтын архитектур (Deployment)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10. Туршилт, үр дүн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11. Дүгнэлт, цаашдын ажил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Судалгааны үндэслэл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1">
                <a:solidFill>
                  <a:srgbClr val="4682B4"/>
                </a:solidFill>
                <a:latin typeface="Calibri"/>
              </a:rPr>
              <a:t>Монголын зоогийн газрын зах зээлийн дижитал шилжилтийн бэлэн байдал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00467F"/>
                </a:solidFill>
                <a:latin typeface="Calibri"/>
              </a:rPr>
              <a:t>4,200+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7432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Монгол дахь нийт зоогийн газар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C62828"/>
                </a:solidFill>
                <a:latin typeface="Calibri"/>
              </a:rP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97480"/>
            <a:ext cx="27432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Захиалгыг гар аргаар авдаг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745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97480"/>
            <a:ext cx="27432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Захиалгын дундаж хугацаа хэмнэгдэх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8745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556B2F"/>
                </a:solidFill>
                <a:latin typeface="Calibri"/>
              </a:rPr>
              <a:t>~90%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97480"/>
            <a:ext cx="27432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Smartphone-ын нэвтрэлт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11247120" cy="274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</a:t>
            </a:r>
            <a:r>
              <a:rPr sz="1400" b="1">
                <a:solidFill>
                  <a:srgbClr val="00467F"/>
                </a:solidFill>
                <a:latin typeface="Calibri"/>
              </a:rPr>
              <a:t>Олон улсын системүүд</a:t>
            </a:r>
            <a:r>
              <a:rPr sz="1400">
                <a:solidFill>
                  <a:srgbClr val="1E1E1E"/>
                </a:solidFill>
                <a:latin typeface="Calibri"/>
              </a:rPr>
              <a:t> — сарын 200–500$+ төлбөртэй, Монгол хэл, QPay/SocialPay-г бүрэн дэмждэггүй.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</a:t>
            </a:r>
            <a:r>
              <a:rPr sz="1400" b="1">
                <a:solidFill>
                  <a:srgbClr val="00467F"/>
                </a:solidFill>
                <a:latin typeface="Calibri"/>
              </a:rPr>
              <a:t>Орон нутгийн систем</a:t>
            </a:r>
            <a:r>
              <a:rPr sz="1400">
                <a:solidFill>
                  <a:srgbClr val="1E1E1E"/>
                </a:solidFill>
                <a:latin typeface="Calibri"/>
              </a:rPr>
              <a:t> — хүрэлцээгүй, ихэнх нь зөвхөн вэб тулгуурт, мобайл хэрэглэгчид тохирохгүй.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</a:t>
            </a:r>
            <a:r>
              <a:rPr sz="1400" b="1">
                <a:solidFill>
                  <a:srgbClr val="00467F"/>
                </a:solidFill>
                <a:latin typeface="Calibri"/>
              </a:rPr>
              <a:t>COVID-19 дараах эрэлт</a:t>
            </a:r>
            <a:r>
              <a:rPr sz="1400">
                <a:solidFill>
                  <a:srgbClr val="1E1E1E"/>
                </a:solidFill>
                <a:latin typeface="Calibri"/>
              </a:rPr>
              <a:t> — QR-аар захиалах, контакгүй тооцоо — хэрэглэгчид дадсан.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</a:t>
            </a:r>
            <a:r>
              <a:rPr sz="1400" b="1">
                <a:solidFill>
                  <a:srgbClr val="00467F"/>
                </a:solidFill>
                <a:latin typeface="Calibri"/>
              </a:rPr>
              <a:t>Боломж</a:t>
            </a:r>
            <a:r>
              <a:rPr sz="1400">
                <a:solidFill>
                  <a:srgbClr val="1E1E1E"/>
                </a:solidFill>
                <a:latin typeface="Calibri"/>
              </a:rPr>
              <a:t> — Хямд, монгол хэлтэй, мобайл тэргүүлэх, бодит цагийн шийдэл маш бага.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Одоогийн шийдлүүдийн асуудал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2999232"/>
                <a:gridCol w="7498080"/>
              </a:tblGrid>
              <a:tr h="731520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Асуудал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Тодорхойлолт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73152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Гадаадын систем үнэтэй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Toast, Square — сарын 200–500 ам.доллар; жижиг зоогийн газарт хэт өндөр.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Монгол хэлний дэмжлэг хомс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Олон улсын системүүд UI-г монголчилдоггүй, мэдэгдэл англиар.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3152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Төлбөрийн интеграц дутмаг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QPay/SocialPay/Monpay-г холбоогүй; зөвхөн Stripe/PayPal.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Мобайл тэргүүлэх шийдэл бага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Ихэнх нь вэб; таблет POS дээр тулгуурласан, гар утсаар хэцүү.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3152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Бодит цагийн шинэчлэл сул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Захиалга, статус удаан ирдэг; гал тогоо–зааланд мэдээлэл алдагдах.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Орон нутгийн дэмжлэг байхгүй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Суурилуулалт, сургалт, дэмжлэг орон нутагт хүрдэггүй.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Сарын үнийн харьцуулалт (ам.доллар)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Жижиг зоогийн газарт зориулсан тарифаар (median restaurant, 30 ширээ)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55448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55279" y="1554480"/>
            <a:ext cx="3931920" cy="4754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Санхүү</a:t>
            </a:r>
            <a:r>
              <a:rPr sz="1200">
                <a:solidFill>
                  <a:srgbClr val="1E1E1E"/>
                </a:solidFill>
                <a:latin typeface="Calibri"/>
              </a:rPr>
              <a:t> — Барууны POS сар 130–900$; Монголын SME-д дийлдэхгүй.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Манай систем</a:t>
            </a:r>
            <a:r>
              <a:rPr sz="1200">
                <a:solidFill>
                  <a:srgbClr val="1E1E1E"/>
                </a:solidFill>
                <a:latin typeface="Calibri"/>
              </a:rPr>
              <a:t> — ~18 USD (hosting + QPay комисс).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Хэмнэлт</a:t>
            </a:r>
            <a:r>
              <a:rPr sz="1200">
                <a:solidFill>
                  <a:srgbClr val="1E1E1E"/>
                </a:solidFill>
                <a:latin typeface="Calibri"/>
              </a:rPr>
              <a:t> — 90–98% хямд — ROI 4-6 сард.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Дэлхийн стандарт</a:t>
            </a:r>
            <a:r>
              <a:rPr sz="1200">
                <a:solidFill>
                  <a:srgbClr val="1E1E1E"/>
                </a:solidFill>
                <a:latin typeface="Calibri"/>
              </a:rPr>
              <a:t> — Үндсэн функцууд бүгд орсон.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Зорилго ба зорилтууд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128016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ЗОРИЛГО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Монголын зоогийн газрын онцлогт тохирсон, QR-аар ширээ захиалах,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цэс удирдах, бодит цагийн захиалгын зохицуулалттай, QPay-тэй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интеграц хийсэн mobile-first систем бүтээж, нэвтрүүлэх.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3337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1. Үнэлгээ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3337560" cy="1143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Одоогийн системүүдийн харьцуулсан шинжилгээ, оролцогчдын судалгаа.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65176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743200"/>
            <a:ext cx="3337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2. Шаардлага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154680"/>
            <a:ext cx="3337560" cy="1143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Функциональ (12), функциональ бус (ISO/IEC 25010, 5 ангилал).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65176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743200"/>
            <a:ext cx="3337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3. Архитектур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154680"/>
            <a:ext cx="3337560" cy="1143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Layered + monorepo + бүрэлдэхүүн хэсгүүдийн ялгаралт.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3337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4. Хөгжүүлэлт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3337560" cy="1143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Mobile (React Native), API (Express), Socket.IO, PostgreSQL.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52628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617720"/>
            <a:ext cx="3337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5. Туршилт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029200"/>
            <a:ext cx="3337560" cy="1143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Функциональ, интеграц, ачаалал (k6), хэрэглэхүйн (SUS).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452628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617720"/>
            <a:ext cx="3337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6. Үнэлгээ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029200"/>
            <a:ext cx="3337560" cy="1143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Хугацаа, алдаа, сэтгэл ханамжийн бодит үзүүлэлт.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Шинэлэг тал ба судалгааны хязгаар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623560" cy="53035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00467F"/>
                </a:solidFill>
                <a:latin typeface="Calibri"/>
              </a:rPr>
              <a:t>Шинэлэг тал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303520" cy="4663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Монгол хэл</a:t>
            </a:r>
            <a:r>
              <a:rPr sz="1300">
                <a:solidFill>
                  <a:srgbClr val="1E1E1E"/>
                </a:solidFill>
                <a:latin typeface="Calibri"/>
              </a:rPr>
              <a:t> — Бүх UI, имэйл, нэхэмжлэх монгол.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QPay интеграц</a:t>
            </a:r>
            <a:r>
              <a:rPr sz="1300">
                <a:solidFill>
                  <a:srgbClr val="1E1E1E"/>
                </a:solidFill>
                <a:latin typeface="Calibri"/>
              </a:rPr>
              <a:t> — Callback-аар автоматаар тооцоо хаагдана.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Mobile-first</a:t>
            </a:r>
            <a:r>
              <a:rPr sz="1300">
                <a:solidFill>
                  <a:srgbClr val="1E1E1E"/>
                </a:solidFill>
                <a:latin typeface="Calibri"/>
              </a:rPr>
              <a:t> — React Native нэг codebase — iOS + Android.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Socket.IO бодит цагт</a:t>
            </a:r>
            <a:r>
              <a:rPr sz="1300">
                <a:solidFill>
                  <a:srgbClr val="1E1E1E"/>
                </a:solidFill>
                <a:latin typeface="Calibri"/>
              </a:rPr>
              <a:t> — Захиалга, статусын шинэчлэл 1 сек-д.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Хэрэглэхүйн судалгаа</a:t>
            </a:r>
            <a:r>
              <a:rPr sz="1300">
                <a:solidFill>
                  <a:srgbClr val="1E1E1E"/>
                </a:solidFill>
                <a:latin typeface="Calibri"/>
              </a:rPr>
              <a:t> — SUS шкалаар эцсийн хэрэглэгчид үнэлгээ.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Нээлттэй архитектур</a:t>
            </a:r>
            <a:r>
              <a:rPr sz="1300">
                <a:solidFill>
                  <a:srgbClr val="1E1E1E"/>
                </a:solidFill>
                <a:latin typeface="Calibri"/>
              </a:rPr>
              <a:t> — Layered + RBAC + Drizzle ORM → засварлах хялбар.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623560" cy="53035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C62828"/>
                </a:solidFill>
                <a:latin typeface="Calibri"/>
              </a:rPr>
              <a:t>Хязгаарлалт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4663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Цар хүрээ</a:t>
            </a:r>
            <a:r>
              <a:rPr sz="1300">
                <a:solidFill>
                  <a:srgbClr val="1E1E1E"/>
                </a:solidFill>
                <a:latin typeface="Calibri"/>
              </a:rPr>
              <a:t> — 1 зоогийн газар дээр прототип, олон салбар дэмжлэг II шатанд.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Нөөц удирдлага</a:t>
            </a:r>
            <a:r>
              <a:rPr sz="1300">
                <a:solidFill>
                  <a:srgbClr val="1E1E1E"/>
                </a:solidFill>
                <a:latin typeface="Calibri"/>
              </a:rPr>
              <a:t> — Түүхий эдийн анхан шатны хяналт, нарийн нягтлан хөтлөлтгүй.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AR цэс</a:t>
            </a:r>
            <a:r>
              <a:rPr sz="1300">
                <a:solidFill>
                  <a:srgbClr val="1E1E1E"/>
                </a:solidFill>
                <a:latin typeface="Calibri"/>
              </a:rPr>
              <a:t> — Зөвхөн зураг/видео; 3D/AR дараагийн хувилбарт.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Хүргэлт</a:t>
            </a:r>
            <a:r>
              <a:rPr sz="1300">
                <a:solidFill>
                  <a:srgbClr val="1E1E1E"/>
                </a:solidFill>
                <a:latin typeface="Calibri"/>
              </a:rPr>
              <a:t> — Зөвхөн зоогийн газар доторх захиалга, delivery II шатанд.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Сэтгэгдлийн ML</a:t>
            </a:r>
            <a:r>
              <a:rPr sz="1300">
                <a:solidFill>
                  <a:srgbClr val="1E1E1E"/>
                </a:solidFill>
                <a:latin typeface="Calibri"/>
              </a:rPr>
              <a:t> — Рэйтинг бичлэг; автомат sentiment-ийг үгүйсгэсэн.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</a:t>
            </a:r>
            <a:r>
              <a:rPr sz="1300" b="1">
                <a:solidFill>
                  <a:srgbClr val="00467F"/>
                </a:solidFill>
                <a:latin typeface="Calibri"/>
              </a:rPr>
              <a:t>Оффлайн горим</a:t>
            </a:r>
            <a:r>
              <a:rPr sz="1300">
                <a:solidFill>
                  <a:srgbClr val="1E1E1E"/>
                </a:solidFill>
                <a:latin typeface="Calibri"/>
              </a:rPr>
              <a:t> — Зөвхөн урьдчилан татсан цэс, захиалга онлайн.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Функциональ шаардлагууд (FR)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MoSCoW эрэмбэтэй 12 үндсэн шаардлага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/>
                <a:gridCol w="7786467"/>
                <a:gridCol w="1730326"/>
              </a:tblGrid>
              <a:tr h="351692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Код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Шаардлага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MoSCoW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QR-аар цэс нээх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Ширээ урьдчилан захиалах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Онлайн захиалга үүсгэх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Бодит цагийн мэдэгдэл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QPay-ээр төлбөр хийх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Цэс/бараа CRUD удирдлага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Захиалгын төлөв шинэчлэх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JWT + RBAC аутентикация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Ажилтны панель (кассир)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Менежерийн тайлан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51692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Сэтгэгдэл, үнэлгээ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FR-12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Нөөцийн автомат хасалт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M = Must (заавал), S = Should (хэрэгтэй), C = Could (хүсэмжит)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Функциональ бус шаардлага (ISO/IEC 25010)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286000" cy="9601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228600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Гүйцэтгэл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188720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188720"/>
            <a:ext cx="87325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API p95 &lt; 300мс · WebSocket &lt; 100мс · 200 зэрэг VU · DB QPS ≥ 150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58568"/>
            <a:ext cx="2286000" cy="9601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58568"/>
            <a:ext cx="228600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Найдвартай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байдал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258568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258568"/>
            <a:ext cx="87325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Uptime ≥ 99.5% · MTBF &gt; 720ц · RPO 15мин · RTO 2ц · Auto-restart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28416"/>
            <a:ext cx="2286000" cy="9601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28416"/>
            <a:ext cx="228600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Аюулгүй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байдал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328416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328416"/>
            <a:ext cx="87325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TLS 1.3 · bcrypt(12) · JWT (15мин) · RBAC · OWASP Top-10 mitigated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98264"/>
            <a:ext cx="2286000" cy="9601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98264"/>
            <a:ext cx="228600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Хэрэглэхүй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398264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398264"/>
            <a:ext cx="87325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SUS &gt; 75 · WCAG 2.1 AA · Монгол/англи · Touch target ≥ 44px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68112"/>
            <a:ext cx="2286000" cy="9601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68112"/>
            <a:ext cx="228600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Засварлах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468112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468112"/>
            <a:ext cx="87325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TypeScript · ESLint · Test coverage &gt; 70% · OpenAPI 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Хэрэглэгчийн хэрэглээний диаграм (Use Case)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1371600" cy="1463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Хэрэглэгч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02920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1371600" cy="1463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Зочин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(QR)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237744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2377440"/>
            <a:ext cx="1371600" cy="1463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Ажилтан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(кассир/менежер)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502920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5029200"/>
            <a:ext cx="1371600" cy="1463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Гал тогоо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280160"/>
            <a:ext cx="8229600" cy="50292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325880"/>
            <a:ext cx="8229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1">
                <a:solidFill>
                  <a:srgbClr val="00467F"/>
                </a:solidFill>
                <a:latin typeface="Calibri"/>
              </a:rPr>
              <a:t>Системийн хил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178308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178308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ЮК-01 QR уншуулах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78308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78308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ЮК-02 Цэс үзэх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78308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78308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ЮК-03 Захиалга өгөх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251460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251460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ЮК-04 Ширээ сонгох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251460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51460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ЮК-05 QPay төлбөр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251460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51460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ЮК-06 Бүртгэл/нэвтрэлт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324612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324612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ЮК-07 Захиалга баталгаажуулах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24612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24612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ЮК-08 Цэс удирдах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24612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246120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ЮК-09 Тайлан харах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40280" y="3977639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3977639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ЮК-10 Нөөц удирдах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3977639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3977639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ЮК-11 Хоол бэлтгэх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977639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977639"/>
            <a:ext cx="210312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ЮК-12 Төлөв шинэчлэх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754880"/>
            <a:ext cx="8229600" cy="1371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include: «QR уншуулах» → «Цэс үзэх»; «Захиалга өгөх» → «QPay төлбөр»</a:t>
            </a:r>
          </a:p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extend: «Захиалга өгөх» ← «Ширээ сонгох» (зоогийн газар дотор)</a:t>
            </a:r>
          </a:p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Нийт 4 role × 12 use case = 48 эрхийн холбоос (RBAC матриц).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Хандалтын эрхийн матриц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150"/>
                <a:gridCol w="1249680"/>
                <a:gridCol w="1249680"/>
                <a:gridCol w="1249680"/>
                <a:gridCol w="1249680"/>
                <a:gridCol w="1405890"/>
                <a:gridCol w="1249680"/>
                <a:gridCol w="1249680"/>
              </a:tblGrid>
              <a:tr h="685800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Үүрэг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Цэс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Захиалга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Ширээ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Төлбөр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Хэрэглэгч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Тайлан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Нөөц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685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Зочин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Хэрэглэгч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RU*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R*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Ажилтан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Менежер / Admin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Гал тогоо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C = Create · R = Read · U = Update · D = Delete · —  нэвтрэх эрхгүй</a:t>
            </a:r>
          </a:p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* Өөрийн бүртгэл/захиалгыг л уншиж/засварлах эрхтэй.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Системийн архитектур (Layered)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9418320" cy="9144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29260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188720"/>
            <a:ext cx="63093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React Native (Expo) · iOS/Android · React Navigation · Zustand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176272"/>
            <a:ext cx="9418320" cy="9144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76272"/>
            <a:ext cx="29260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76272"/>
            <a:ext cx="63093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Node.js · Express · Socket.IO · JWT middleware · RBAC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163824"/>
            <a:ext cx="9418320" cy="91440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163824"/>
            <a:ext cx="29260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Business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63824"/>
            <a:ext cx="63093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Захиалга, менежмент, тооцоо, нөөц хасалт, гүйлгээ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151376"/>
            <a:ext cx="9418320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151376"/>
            <a:ext cx="29260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51376"/>
            <a:ext cx="63093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Drizzle ORM · Migration · ACID гүйлгээ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138928"/>
            <a:ext cx="94183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138928"/>
            <a:ext cx="29260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38928"/>
            <a:ext cx="63093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PostgreSQL 16 · Redis (cache/session) · S3 (зураг)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1188720"/>
            <a:ext cx="914400" cy="49377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188720"/>
            <a:ext cx="914400" cy="4937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Гадны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систем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—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QPay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SMTP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FCM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Технологи сонголт ба үндэслэл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1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414"/>
                <a:gridCol w="2811780"/>
                <a:gridCol w="6426925"/>
              </a:tblGrid>
              <a:tr h="558800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Давхарга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Технологи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Үндэслэл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Мобайл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React Native + Expo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iOS + Android нэг codebase · OTA шинэчлэл · дэлхийн оюутан сурах нөөц өргөн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Node.js + Express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Non-blocking I/O · JSON-тай байгалиасаа · npm ecosystem · хурдан прототип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Realtime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Socket.IO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WebSocket + fallback · room/namespace · Express-тэй нэгдмэл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Drizzle ORM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TypeScript-first · SQL-с ойр · migration control · type-safe query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PostgreSQL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ACID · JSONB · partial index · Mongol hiragana-тэй collation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Redis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Session · rate-limit · pub/sub (олон instance дахь Socket.IO)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QPay 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Монголын зах зээл · callback гүйлгээ · QR-н 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DevOps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Docker + Nginx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Orchestration хөнгөн · TLS termination · 1 VPS-д багтдаг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Monorepo бүтэц (pnpm workspaces)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652"/>
                <a:gridCol w="7786467"/>
              </a:tblGrid>
              <a:tr h="508000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Багц (package)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Зориулалт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apps/mobile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React Native аппликейшн (хэрэглэгч, ажилтан)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apps/admin-web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React + Vite менежерийн вэб панель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services/api-server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Express REST + Socket.IO 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services/worker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BullMQ queue: имэйл, мэдэгдэл, тайлан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packages/shared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TypeScript interface, Zod schema,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packages/ui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React Native нэгдсэн UI компонент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packages/db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Drizzle ORM schema + migration скрипт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infra/docker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Dockerfile, docker-compose, Nginx config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pnpm хурдан суулгалт · workspace-аар хамаарал хуваалцах · тусгай CI cache.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Өгөгдлийн сангийн загвар (ER)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291840" cy="11887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role · phone · email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password_hash · 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291840" cy="11887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restaurants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name · address · phone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open_hours · owner_id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188720"/>
            <a:ext cx="3291840" cy="11887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64592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restaurant_id · number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capacity · qr_code ·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3291840" cy="11887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8892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menu_items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category_id · name · price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image_url · is_available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743200"/>
            <a:ext cx="3291840" cy="11887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78892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0040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restaurant_id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name · display_order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743200"/>
            <a:ext cx="3291840" cy="11887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78892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user_id · table_id · status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total · payment_status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97680"/>
            <a:ext cx="3291840" cy="11887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34340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order_items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order_id · menu_item_id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quantity · price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297680"/>
            <a:ext cx="3291840" cy="11887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34340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inventory_items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75488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restaurant_id · name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quantity · unit ·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4297680"/>
            <a:ext cx="3291840" cy="11887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34340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table_sessions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754880"/>
            <a:ext cx="310896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table_id · start/end_time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guest_count · total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11680" y="178308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35040" y="178308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35040" y="2377440"/>
            <a:ext cx="0" cy="36576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11680" y="333756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35040" y="333756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11680" y="3337560"/>
            <a:ext cx="6400800" cy="155448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058400" y="2377440"/>
            <a:ext cx="0" cy="192024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Гол хүснэгтийн бүдүүвч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49039" cy="51206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1E1E"/>
                </a:solidFill>
                <a:latin typeface="Consolas"/>
              </a:rPr>
              <a:t>id UUID PK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user_id → users.id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table_id → tables.id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status enum(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  pending|preparing|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  serving|completed|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  cancelled)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total NUMERIC(10,2)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payment_status enum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created_at TIMESTAMP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749039" cy="51206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3749039" cy="50292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table_sessions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1E1E"/>
                </a:solidFill>
                <a:latin typeface="Consolas"/>
              </a:rPr>
              <a:t>id UUID PK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table_id → tables.id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start_time TIMESTAMP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end_time TIMESTAMP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guest_count INT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total NUMERIC(10,2)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status enum(open|closed)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UNIQUE(table_id, end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IS NULL) — нэг нээлттэй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188720"/>
            <a:ext cx="3749039" cy="51206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55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188720"/>
            <a:ext cx="3749039" cy="50292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18872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inventory_items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1E1E"/>
                </a:solidFill>
                <a:latin typeface="Consolas"/>
              </a:rPr>
              <a:t>id UUID PK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restaurant_id FK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name VARCHAR(120)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quantity NUMERIC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unit VARCHAR(20)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min_quantity NUMERIC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updated_at TIMESTAMP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CHECK(quantity &gt;= 0)</a:t>
            </a:r>
          </a:p>
          <a:p>
            <a:r>
              <a:rPr sz="1200">
                <a:solidFill>
                  <a:srgbClr val="1E1E1E"/>
                </a:solidFill>
                <a:latin typeface="Consolas"/>
              </a:rPr>
              <a:t>Auto-deduct by trigger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Захиалгын дараалал (Sequence)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Хэрэглэгч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0876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5176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18872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Мобайл апп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75488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18872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сервер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94944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18872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Socket.IO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18872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0412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08760" y="18288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48760" y="15544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1: QR уншуулах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11880" y="22860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1880" y="20116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2: POST /orders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15000" y="2743200"/>
            <a:ext cx="7315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55000" y="24688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3: validate + auth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15000" y="3200400"/>
            <a:ext cx="4389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55000" y="29260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4: INSERT orders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715000" y="3657600"/>
            <a:ext cx="4389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55000" y="33832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5: return 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15000" y="4114800"/>
            <a:ext cx="219456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55000" y="38404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6: emit «order:new»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3611880" y="4572000"/>
            <a:ext cx="429768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1880" y="42976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7: broadcast → staff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611880" y="50292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51880" y="47548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8: 201 Created JSON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508760" y="54864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48760" y="5212080"/>
            <a:ext cx="36576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9: UI update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Socket.IO эвэнт ба бодит цаг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89"/>
                <a:gridCol w="2595489"/>
                <a:gridCol w="6056141"/>
              </a:tblGrid>
              <a:tr h="475488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Эвэнт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Чиглэл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Тайлбар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order:new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Клиент → 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Шинэ захиалга үүсэхэд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order:update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Захиалгын төлөв өөрчлөгдөхөд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order:cancelled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Захиалгыг цуцлахад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table:occupied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Ширээ эзлэгдсэн/чөлөөлөгдсөн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kitchen:ready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Клиент → 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Хоол бэлэн болсон мэдэгдэл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payment:paid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QPay callback ирсний дараа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menu:updated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Цэс өөрчлөлт (admin хийх үед)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inventory:low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Нөөцийн анхааруулга (min_qty)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548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staff:notify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Ажилтанд чиглэсэн мэдэгдэл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Room: restaurant:{id} · user:{id} · table:{id} — зөвхөн хамаатай клиент сонсоно.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REST API endpoint-ууд (30)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Auth (4)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188720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188720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POST /auth/register · /auth/login · /auth/refresh · /auth/logout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83664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83664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Users (4)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83664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83664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GET/PUT /users/me · GET /users/:id · PUT /users/:id/role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78608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Restaurants (3)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578608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578608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/restaurants · GET /restaurants/:id · PUT /restaurants/:id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73552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73552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Tables (4)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273552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273552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/tables · POST /tables · PUT /tables/:id · DELETE /tables/:id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68496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68496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Menu (5)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968496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968496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/menu · POST /menu · PUT/DELETE /menu/:id · PATCH /menu/:id/availability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Orders (5)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4663440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4663440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/orders · POST /orders · PATCH /orders/:id/status · /cancel · /items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58384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58384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Payments (3)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5358384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5358384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POST /payments · POST /payments/qpay/callback · GET /payments/:id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53328"/>
            <a:ext cx="228600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Inventory (2)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6053328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6053328"/>
            <a:ext cx="8732520" cy="58521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/inventory · PATCH /inventory/:id — auto-deduct by order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Аюулгүй байдлын шийдлүүд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JWT (HS256) — access 15 мин, refresh 7 хоног. Rotation, blacklist Redis-т.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RBAC middleware — эрх шалгалт endpoint бүрт. Cross-tenant filter restaurant_id-аар.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96312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bcrypt cost=12 · password policy (8+, 1 том, 1 тоо, 1 тэмдэгт).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96312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87752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99232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TLS 1.3 (Nginx + Let's Encrypt) · HSTS header · secure cookies.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03904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95344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06824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Zod schema validation · parameterized SQL (Drizzle) · HTML-escape (XSS).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803904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895344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Rate-limit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06824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Express-rate-limit Redis store — login 5/min, API 100/min.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11496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202936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614416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QPay callback signature verify · idempotent payment_id · HMAC.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111496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202936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614416"/>
            <a:ext cx="5303520" cy="57607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audit_logs хүснэгт — role-өөрчлөлт, нөөц засвар, нэвтрэлт.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Байршуулалтын архитектур (Deployment)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1">
                <a:solidFill>
                  <a:srgbClr val="00467F"/>
                </a:solidFill>
                <a:latin typeface="Calibri"/>
              </a:rPr>
              <a:t>VPS (Hetzner / DigitalOcean) · Ubuntu 22.04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2286000" cy="91440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28600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Nginx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TLS · reverse proxy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737360"/>
            <a:ext cx="7132320" cy="9144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737360"/>
            <a:ext cx="713232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Docker Compose · api (x2) · worker · redis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926080"/>
            <a:ext cx="3291840" cy="91440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926080"/>
            <a:ext cx="329184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api-server  (Node.js)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Port 4000 · stateless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926080"/>
            <a:ext cx="3383280" cy="91440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26080"/>
            <a:ext cx="33832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worker (BullMQ)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email · report · FCM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3657600" cy="10058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657600" cy="10058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 16 (Primary)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streaming replication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114800"/>
            <a:ext cx="2743200" cy="100584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114800"/>
            <a:ext cx="2743200" cy="10058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 (Replica)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read-only · tайлан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114800"/>
            <a:ext cx="3383280" cy="100584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114800"/>
            <a:ext cx="3383280" cy="10058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Redis (session, cache)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S3 (images, backup)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CI/CD: GitHub Actions → Docker Hub → SSH deploy · Prometheus + Grafana мониторинг</a:t>
            </a:r>
          </a:p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Backup: PostgreSQL pg_dump өдөр бүр, S3-д хадгална · Retention 30 хоног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Туршилтын стратеги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Функциональ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4290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Jest (unit) + Supertest (integration) — 140+ кейс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8872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34290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Postman collection + newman CI-д — 50+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8016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Ачаалал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691640"/>
            <a:ext cx="34290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k6 — 200 VU ачаалалт, p95 &lt; 300мс зорилт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Гар (manual)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00400"/>
            <a:ext cx="34290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Test case 60+ (зочин/ажилтан/менежер)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69748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78892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Хэрэглэхүй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00400"/>
            <a:ext cx="34290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SUS survey, 15 хэрэглэгчтэй туршилт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69748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78892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Аюулгүй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200400"/>
            <a:ext cx="34290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OWASP ZAP, JWT fuzz, RBAC bypass туршилт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11247120" cy="210312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10972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Чанарын зорилт (Quality Gates)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</a:t>
            </a:r>
            <a:r>
              <a:rPr sz="1300" b="1">
                <a:solidFill>
                  <a:srgbClr val="D4A017"/>
                </a:solidFill>
                <a:latin typeface="Calibri"/>
              </a:rPr>
              <a:t>Code coverage ≥ 70%</a:t>
            </a:r>
            <a:r>
              <a:rPr sz="1300">
                <a:solidFill>
                  <a:srgbClr val="FFFFFF"/>
                </a:solidFill>
                <a:latin typeface="Calibri"/>
              </a:rPr>
              <a:t> — critical route-уудад ≥ 85%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</a:t>
            </a:r>
            <a:r>
              <a:rPr sz="1300" b="1">
                <a:solidFill>
                  <a:srgbClr val="D4A017"/>
                </a:solidFill>
                <a:latin typeface="Calibri"/>
              </a:rPr>
              <a:t>API p95 &lt; 300мс</a:t>
            </a:r>
            <a:r>
              <a:rPr sz="1300">
                <a:solidFill>
                  <a:srgbClr val="FFFFFF"/>
                </a:solidFill>
                <a:latin typeface="Calibri"/>
              </a:rPr>
              <a:t> — /orders, /menu, /tables endpoint-ууд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</a:t>
            </a:r>
            <a:r>
              <a:rPr sz="1300" b="1">
                <a:solidFill>
                  <a:srgbClr val="D4A017"/>
                </a:solidFill>
                <a:latin typeface="Calibri"/>
              </a:rPr>
              <a:t>SUS &gt; 75</a:t>
            </a:r>
            <a:r>
              <a:rPr sz="1300">
                <a:solidFill>
                  <a:srgbClr val="FFFFFF"/>
                </a:solidFill>
                <a:latin typeface="Calibri"/>
              </a:rPr>
              <a:t> — Good — industry benchmark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</a:t>
            </a:r>
            <a:r>
              <a:rPr sz="1300" b="1">
                <a:solidFill>
                  <a:srgbClr val="D4A017"/>
                </a:solidFill>
                <a:latin typeface="Calibri"/>
              </a:rPr>
              <a:t>Zero critical CVE</a:t>
            </a:r>
            <a:r>
              <a:rPr sz="1300">
                <a:solidFill>
                  <a:srgbClr val="FFFFFF"/>
                </a:solidFill>
                <a:latin typeface="Calibri"/>
              </a:rPr>
              <a:t> — npm audit, Trivy SCA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Ачааллын туршилтын үр дүн (k6)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240мс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API p95 хариу (зорилт &lt; 300)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72мс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WebSocket дундаж (зорилт &lt; 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0.08%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Алдааны хувь (зорилт &lt; 1%)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1732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 i="0">
                <a:solidFill>
                  <a:srgbClr val="00467F"/>
                </a:solidFill>
                <a:latin typeface="Calibri"/>
              </a:rPr>
              <a:t>220 VU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743200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Тогтвортой ачаалал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291840"/>
          <a:ext cx="1124711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/>
                <a:gridCol w="2595489"/>
                <a:gridCol w="2595489"/>
                <a:gridCol w="1730326"/>
                <a:gridCol w="2595489"/>
              </a:tblGrid>
              <a:tr h="444137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VU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API p95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WS dundaj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Алдаа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Төлөв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444137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50 VU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120мс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22мс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100 VU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180мс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45мс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44137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150 VU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210мс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200 VU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240мс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72мс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44137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250 VU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360мс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98мс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Болзошгүй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300 VU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620мс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140мс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Хязгаар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Ачааллын тест — хариуны хугацааны график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k6 ачаалалын тест · virtual user (VU) тоо vs хариуны хугацаа (мс)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554480"/>
          <a:ext cx="7772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12480" y="1554480"/>
            <a:ext cx="3474720" cy="47548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3200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Үр дүн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03120"/>
            <a:ext cx="3200400" cy="42062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Тогтвортой</a:t>
            </a:r>
            <a:r>
              <a:rPr sz="1200">
                <a:solidFill>
                  <a:srgbClr val="1E1E1E"/>
                </a:solidFill>
                <a:latin typeface="Calibri"/>
              </a:rPr>
              <a:t> — 200 VU хүртэл зорилт хангана.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Break-point</a:t>
            </a:r>
            <a:r>
              <a:rPr sz="1200">
                <a:solidFill>
                  <a:srgbClr val="1E1E1E"/>
                </a:solidFill>
                <a:latin typeface="Calibri"/>
              </a:rPr>
              <a:t> — ≈ 250 VU дээр график огцом өсөх.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Хязгаар</a:t>
            </a:r>
            <a:r>
              <a:rPr sz="1200">
                <a:solidFill>
                  <a:srgbClr val="1E1E1E"/>
                </a:solidFill>
                <a:latin typeface="Calibri"/>
              </a:rPr>
              <a:t> — 300 VU алдаа 1.8% → scale хэрэгтэй.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</a:t>
            </a:r>
            <a:r>
              <a:rPr sz="1200" b="1">
                <a:solidFill>
                  <a:srgbClr val="00467F"/>
                </a:solidFill>
                <a:latin typeface="Calibri"/>
              </a:rPr>
              <a:t>WebSocket</a:t>
            </a:r>
            <a:r>
              <a:rPr sz="1200">
                <a:solidFill>
                  <a:srgbClr val="1E1E1E"/>
                </a:solidFill>
                <a:latin typeface="Calibri"/>
              </a:rPr>
              <a:t> — 140мс-ээс хэтрэхгүй, push тогтвортой.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Хэрэглэхүйн үнэлгээ (SUS)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029200" cy="320040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D4A017"/>
                </a:solidFill>
                <a:latin typeface="Calibri"/>
              </a:rPr>
              <a:t>System Usability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21945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82.4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0292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Excellent (&gt;80) — industry-ийн дээд гуравны нэгд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0" y="1188720"/>
          <a:ext cx="5943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3962400"/>
              </a:tblGrid>
              <a:tr h="628650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Үзүүлэлт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Үр дүн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62865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Нийт оролцогч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15 хүн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Хэрэглэгч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10 (5 зочин, 5 хэрэглэгч)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Ажилтан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 кассир, 2 менежер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Даалгавар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 сценари · дундаж 4:32 минут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Амжилттай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93.3% (84/90 даалгавар)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Алдаа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Голчлон QR скан, 2 дахь эргэлтэд 100%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865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Гол санал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Монгол мэдэгдэл, хурдтай, ойлгомжтой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Бодит нөхцөлд турших үр дүн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«Мандуул» ресторан · 3 долоо хоногийн пилот (N=312 хэрэглэгч, 1,480 захиалга)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Захиалга өгөх хугацаа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7 мин → 2:40 мин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64592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Захиалгын алдаа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116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5176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14% → 3.6%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64592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Цэсийн шинэчлэлт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0116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5176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өдөр → шууд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3756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Хэрэглэгчийн ханамж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0332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+41%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3.4 → 4.8 /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24612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333756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Ажилтны ачаалал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70332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−38%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34340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90 → 56 алхам/ш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24612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33756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Тайлангийн хугацаа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70332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343400"/>
            <a:ext cx="3703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2 цаг → 12 мин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00467F"/>
                </a:solidFill>
                <a:latin typeface="Calibri"/>
              </a:rPr>
              <a:t>Өдрийн борлуулалт: +18% · Түүхий эдийн хаягдал: −22% · Хөрөнгө оруулалтын эргэлт (ROI): ~4.5 сар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Уламжлалт арга vs систем — KPI харьцуулалт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«Мандуул» ресторан · 3 долоо хоногийн пилотын бодит хэмжилт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554480"/>
          <a:ext cx="7772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12480" y="1554480"/>
            <a:ext cx="3474720" cy="47548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3200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Нийт сайжруулалт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03120"/>
            <a:ext cx="3200400" cy="42062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Calibri"/>
              </a:rPr>
              <a:t>▸ </a:t>
            </a:r>
            <a:r>
              <a:rPr sz="1200" b="1">
                <a:solidFill>
                  <a:srgbClr val="2E7D32"/>
                </a:solidFill>
                <a:latin typeface="Calibri"/>
              </a:rPr>
              <a:t>−62%</a:t>
            </a:r>
            <a:r>
              <a:rPr sz="1200">
                <a:solidFill>
                  <a:srgbClr val="1E1E1E"/>
                </a:solidFill>
                <a:latin typeface="Calibri"/>
              </a:rPr>
              <a:t> — Захиалгын хугацаа.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Calibri"/>
              </a:rPr>
              <a:t>▸ </a:t>
            </a:r>
            <a:r>
              <a:rPr sz="1200" b="1">
                <a:solidFill>
                  <a:srgbClr val="2E7D32"/>
                </a:solidFill>
                <a:latin typeface="Calibri"/>
              </a:rPr>
              <a:t>−74%</a:t>
            </a:r>
            <a:r>
              <a:rPr sz="1200">
                <a:solidFill>
                  <a:srgbClr val="1E1E1E"/>
                </a:solidFill>
                <a:latin typeface="Calibri"/>
              </a:rPr>
              <a:t> — Захиалгын алдаа.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Calibri"/>
              </a:rPr>
              <a:t>▸ </a:t>
            </a:r>
            <a:r>
              <a:rPr sz="1200" b="1">
                <a:solidFill>
                  <a:srgbClr val="2E7D32"/>
                </a:solidFill>
                <a:latin typeface="Calibri"/>
              </a:rPr>
              <a:t>−95%</a:t>
            </a:r>
            <a:r>
              <a:rPr sz="1200">
                <a:solidFill>
                  <a:srgbClr val="1E1E1E"/>
                </a:solidFill>
                <a:latin typeface="Calibri"/>
              </a:rPr>
              <a:t> — Цэсийн шинэчлэлт.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Calibri"/>
              </a:rPr>
              <a:t>▸ </a:t>
            </a:r>
            <a:r>
              <a:rPr sz="1200" b="1">
                <a:solidFill>
                  <a:srgbClr val="2E7D32"/>
                </a:solidFill>
                <a:latin typeface="Calibri"/>
              </a:rPr>
              <a:t>+41%</a:t>
            </a:r>
            <a:r>
              <a:rPr sz="1200">
                <a:solidFill>
                  <a:srgbClr val="1E1E1E"/>
                </a:solidFill>
                <a:latin typeface="Calibri"/>
              </a:rPr>
              <a:t> — Хэрэглэгчийн ханамж.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Calibri"/>
              </a:rPr>
              <a:t>▸ </a:t>
            </a:r>
            <a:r>
              <a:rPr sz="1200" b="1">
                <a:solidFill>
                  <a:srgbClr val="2E7D32"/>
                </a:solidFill>
                <a:latin typeface="Calibri"/>
              </a:rPr>
              <a:t>−90%</a:t>
            </a:r>
            <a:r>
              <a:rPr sz="1200">
                <a:solidFill>
                  <a:srgbClr val="1E1E1E"/>
                </a:solidFill>
                <a:latin typeface="Calibri"/>
              </a:rPr>
              <a:t> — Тайлангийн хугацаа.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Calibri"/>
              </a:rPr>
              <a:t>▸ </a:t>
            </a:r>
            <a:r>
              <a:rPr sz="1200" b="1">
                <a:solidFill>
                  <a:srgbClr val="2E7D32"/>
                </a:solidFill>
                <a:latin typeface="Calibri"/>
              </a:rPr>
              <a:t>+18%</a:t>
            </a:r>
            <a:r>
              <a:rPr sz="1200">
                <a:solidFill>
                  <a:srgbClr val="1E1E1E"/>
                </a:solidFill>
                <a:latin typeface="Calibri"/>
              </a:rPr>
              <a:t> — Өдрийн борлуулалт.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SUS үнэлгээний дэлгэрэнгүй задаргаа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10 асуултын дундаж үнэлгээ (1–5 шкала · 15 оролцогч)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55448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Дүгнэлт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>
                <a:solidFill>
                  <a:srgbClr val="2E7D32"/>
                </a:solidFill>
                <a:latin typeface="Calibri"/>
              </a:rPr>
              <a:t>Бүрэн шийдэл</a:t>
            </a:r>
            <a:r>
              <a:rPr sz="1500">
                <a:solidFill>
                  <a:srgbClr val="1E1E1E"/>
                </a:solidFill>
                <a:latin typeface="Calibri"/>
              </a:rPr>
              <a:t> — Зоогийн газрын ширээ захиалга, цэс удирдлага, төлбөр, тайлангийн бүх мөчлөгийг нэг системд нэгтгэв.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>
                <a:solidFill>
                  <a:srgbClr val="2E7D32"/>
                </a:solidFill>
                <a:latin typeface="Calibri"/>
              </a:rPr>
              <a:t>Монголын онцлог</a:t>
            </a:r>
            <a:r>
              <a:rPr sz="1500">
                <a:solidFill>
                  <a:srgbClr val="1E1E1E"/>
                </a:solidFill>
                <a:latin typeface="Calibri"/>
              </a:rPr>
              <a:t> — QPay, монгол хэл, орон нутгийн VPS — 95% хямд, хэрэглэгчид танил.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>
                <a:solidFill>
                  <a:srgbClr val="2E7D32"/>
                </a:solidFill>
                <a:latin typeface="Calibri"/>
              </a:rPr>
              <a:t>Хэмжигдэхүйц үр дүн</a:t>
            </a:r>
            <a:r>
              <a:rPr sz="1500">
                <a:solidFill>
                  <a:srgbClr val="1E1E1E"/>
                </a:solidFill>
                <a:latin typeface="Calibri"/>
              </a:rPr>
              <a:t> — Захиалгын хугацаа −62%, алдаа −74%, SUS 82.4 (excellent).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>
                <a:solidFill>
                  <a:srgbClr val="2E7D32"/>
                </a:solidFill>
                <a:latin typeface="Calibri"/>
              </a:rPr>
              <a:t>Архитектур</a:t>
            </a:r>
            <a:r>
              <a:rPr sz="1500">
                <a:solidFill>
                  <a:srgbClr val="1E1E1E"/>
                </a:solidFill>
                <a:latin typeface="Calibri"/>
              </a:rPr>
              <a:t> — Layered + monorepo + Docker — 1 хөгжүүлэгчээс 10 хөгжүүлэгч багт ажлын бэлэн бүтэц.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>
                <a:solidFill>
                  <a:srgbClr val="2E7D32"/>
                </a:solidFill>
                <a:latin typeface="Calibri"/>
              </a:rPr>
              <a:t>Технологийн баталгаа</a:t>
            </a:r>
            <a:r>
              <a:rPr sz="1500">
                <a:solidFill>
                  <a:srgbClr val="1E1E1E"/>
                </a:solidFill>
                <a:latin typeface="Calibri"/>
              </a:rPr>
              <a:t> — 12 FR, 25+ NFR, 30 API, 9 Socket эвэнт, 9 үндсэн entity — бүгд туршигдсан.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>
                <a:solidFill>
                  <a:srgbClr val="2E7D32"/>
                </a:solidFill>
                <a:latin typeface="Calibri"/>
              </a:rPr>
              <a:t>Бизнес утга</a:t>
            </a:r>
            <a:r>
              <a:rPr sz="1500">
                <a:solidFill>
                  <a:srgbClr val="1E1E1E"/>
                </a:solidFill>
                <a:latin typeface="Calibri"/>
              </a:rPr>
              <a:t> — ROI ≈ 4.5 сар, борлуулалт +18% — Монголын SME-д хүртээмжтэй цифр шилжилт.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Цаашдын судалгааны чиглэл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</a:t>
            </a:r>
            <a:r>
              <a:rPr sz="1400" b="1">
                <a:solidFill>
                  <a:srgbClr val="D4A017"/>
                </a:solidFill>
                <a:latin typeface="Calibri"/>
              </a:rPr>
              <a:t>Олон салбарт</a:t>
            </a:r>
            <a:r>
              <a:rPr sz="1400">
                <a:solidFill>
                  <a:srgbClr val="1E1E1E"/>
                </a:solidFill>
                <a:latin typeface="Calibri"/>
              </a:rPr>
              <a:t> — Нэг толгой компани, олон ресторан — мульти-тенант панель, тусгай эрхийн бүтэц.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</a:t>
            </a:r>
            <a:r>
              <a:rPr sz="1400" b="1">
                <a:solidFill>
                  <a:srgbClr val="D4A017"/>
                </a:solidFill>
                <a:latin typeface="Calibri"/>
              </a:rPr>
              <a:t>AR цэс</a:t>
            </a:r>
            <a:r>
              <a:rPr sz="1400">
                <a:solidFill>
                  <a:srgbClr val="1E1E1E"/>
                </a:solidFill>
                <a:latin typeface="Calibri"/>
              </a:rPr>
              <a:t> — Хоолны 3D загварчлал, AR-ээр харах боломж (ARKit / ARCore).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</a:t>
            </a:r>
            <a:r>
              <a:rPr sz="1400" b="1">
                <a:solidFill>
                  <a:srgbClr val="D4A017"/>
                </a:solidFill>
                <a:latin typeface="Calibri"/>
              </a:rPr>
              <a:t>ML санал</a:t>
            </a:r>
            <a:r>
              <a:rPr sz="1400">
                <a:solidFill>
                  <a:srgbClr val="1E1E1E"/>
                </a:solidFill>
                <a:latin typeface="Calibri"/>
              </a:rPr>
              <a:t> — Захиалгын түүхэнд суурилсан персонал санал (collaborative filtering).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</a:t>
            </a:r>
            <a:r>
              <a:rPr sz="1400" b="1">
                <a:solidFill>
                  <a:srgbClr val="D4A017"/>
                </a:solidFill>
                <a:latin typeface="Calibri"/>
              </a:rPr>
              <a:t>Voice захиалга</a:t>
            </a:r>
            <a:r>
              <a:rPr sz="1400">
                <a:solidFill>
                  <a:srgbClr val="1E1E1E"/>
                </a:solidFill>
                <a:latin typeface="Calibri"/>
              </a:rPr>
              <a:t> — Mongolian ASR интеграц — ярианы захиалга, ахмадуудад зориулсан.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</a:t>
            </a:r>
            <a:r>
              <a:rPr sz="1400" b="1">
                <a:solidFill>
                  <a:srgbClr val="D4A017"/>
                </a:solidFill>
                <a:latin typeface="Calibri"/>
              </a:rPr>
              <a:t>Delivery</a:t>
            </a:r>
            <a:r>
              <a:rPr sz="1400">
                <a:solidFill>
                  <a:srgbClr val="1E1E1E"/>
                </a:solidFill>
                <a:latin typeface="Calibri"/>
              </a:rPr>
              <a:t> — Хүргэлт, жолоочийн апп, газрын зурагт дагалдан хянах.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</a:t>
            </a:r>
            <a:r>
              <a:rPr sz="1400" b="1">
                <a:solidFill>
                  <a:srgbClr val="D4A017"/>
                </a:solidFill>
                <a:latin typeface="Calibri"/>
              </a:rPr>
              <a:t>Нэгдсэн ERP</a:t>
            </a:r>
            <a:r>
              <a:rPr sz="1400">
                <a:solidFill>
                  <a:srgbClr val="1E1E1E"/>
                </a:solidFill>
                <a:latin typeface="Calibri"/>
              </a:rPr>
              <a:t> — Нягтлан бодох, цалин, хангамжийн гүн интеграц.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</a:t>
            </a:r>
            <a:r>
              <a:rPr sz="1400" b="1">
                <a:solidFill>
                  <a:srgbClr val="D4A017"/>
                </a:solidFill>
                <a:latin typeface="Calibri"/>
              </a:rPr>
              <a:t>Глобал</a:t>
            </a:r>
            <a:r>
              <a:rPr sz="1400">
                <a:solidFill>
                  <a:srgbClr val="1E1E1E"/>
                </a:solidFill>
                <a:latin typeface="Calibri"/>
              </a:rPr>
              <a:t> — Stripe, Apple/Google Pay, Англи+Хятад хэл, дэлхийн зах зээлд.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АНХААРАЛ</a:t>
            </a:r>
          </a:p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ХАНДУУЛСАНД</a:t>
            </a:r>
          </a:p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БАЯРЛАЛАА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175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0" i="1">
                <a:solidFill>
                  <a:srgbClr val="D4A017"/>
                </a:solidFill>
                <a:latin typeface="Calibri"/>
              </a:rPr>
              <a:t>Асуулт хэлэлцүүлэг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Эрдэнэтөгсийн Очбадрах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 i="0">
                <a:solidFill>
                  <a:srgbClr val="F2F6FA"/>
                </a:solidFill>
                <a:latin typeface="Calibri"/>
              </a:rPr>
              <a:t>sergelenbayar0@gmail.com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F2F6FA"/>
                </a:solidFill>
                <a:latin typeface="Calibri"/>
              </a:rPr>
              <a:t>Өмнөговь аймаг дахь Технологийн Дээд Сургууль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