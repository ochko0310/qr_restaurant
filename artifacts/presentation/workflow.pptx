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[ДУРДАЖ ӨНГӨРӨХ — 30 сек]</a:t>
            </a:r>
          </a:p>
          <a:p/>
          <a:p>
            <a:r>
              <a:t>Эрхэм багш нар, комиссын гишүүд ээ. Миний бие Эрдэнэтөгсийн Очбадрах бакалаврын дипломын ажлаа танилцуулъя. Сэдэв нь "QR код дээр суурилсан ресторан захиалгын систем — Хан Гарид". Удирдагч багш П. Нарангэрэл. 2026 он.</a:t>
            </a:r>
          </a:p>
          <a:p/>
          <a:p>
            <a:r>
              <a:t>Цаг хэмнэхийн тулд илтгэлээ системийн ажиллах урсгал дээр гол анхаарлаа төвлөрүүлэн ярих болно.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90 сек]</a:t>
            </a:r>
          </a:p>
          <a:p/>
          <a:p>
            <a:r>
              <a:t>Ресторан зочлох үед бид бүгд эдгээр асуудалтай тулгардаг:</a:t>
            </a:r>
          </a:p>
          <a:p>
            <a:r>
              <a:t>• Зөөгчийг удаан хүлээх</a:t>
            </a:r>
          </a:p>
          <a:p>
            <a:r>
              <a:t>• Цэс нөөшилж байх үед сольсон гэдгийг мэдэхгүй</a:t>
            </a:r>
          </a:p>
          <a:p>
            <a:r>
              <a:t>• Төлбөр хариуцах нэг зөөгч завгүй байх</a:t>
            </a:r>
          </a:p>
          <a:p>
            <a:r>
              <a:t>• Гадаад зочинд орчуулга хийх хүндрэл</a:t>
            </a:r>
          </a:p>
          <a:p>
            <a:r>
              <a:t>• COVID-ийн дараах эрүүл ахуйн санаа зовнил</a:t>
            </a:r>
          </a:p>
          <a:p/>
          <a:p>
            <a:r>
              <a:t>Дэлхийн зах зээлд QR захиалгын систем нь үйлчилгээний хугацааг 25%-иар бууруулдаг, дундаж захиалгын дүнг 18%-иар нэмэгдүүлдэг гэж ResearchGate болон McKinsey-ийн судалгаанд тогтоосон.</a:t>
            </a:r>
          </a:p>
          <a:p/>
          <a:p>
            <a:r>
              <a:t>Монгол улсад 2024 онд хүнсний үйлчилгээний салбар ДНБ-ний 4.2% эзэлсэн ч QR захиалга нэвтрүүлсэн ресторан 5%-аас бага. Зах зээл нээлттэй, эрэлт өсч байна.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[ДУРДАЖ ӨНГӨРӨХ — 60 сек]</a:t>
            </a:r>
          </a:p>
          <a:p/>
          <a:p>
            <a:r>
              <a:t>Дэлхийн зах зээлд Toast, Lightspeed, Square POS зэрэг шийдэл байна. Гэхдээ:</a:t>
            </a:r>
          </a:p>
          <a:p>
            <a:r>
              <a:t>• Сард 80+ доллар — Монголын ресторанд үнэтэй</a:t>
            </a:r>
          </a:p>
          <a:p>
            <a:r>
              <a:t>• Зөвхөн англи хэлтэй</a:t>
            </a:r>
          </a:p>
          <a:p>
            <a:r>
              <a:t>• AR functionality байхгүй</a:t>
            </a:r>
          </a:p>
          <a:p>
            <a:r>
              <a:t>• Multi-guest session дэмждэггүй</a:t>
            </a:r>
          </a:p>
          <a:p/>
          <a:p>
            <a:r>
              <a:t>Манай систем энэ 4 цоорхойг хааж байна: үнэгүй опен-сорс, монгол хэлтэй, AR-тэй, нэг QR-аар олон зочин нэгдэх боломжтой. Хүснэгтэн дээр 8 шалгуураар харьцуулсан байна.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75 сек]</a:t>
            </a:r>
          </a:p>
          <a:p/>
          <a:p>
            <a:r>
              <a:t>Зорилго: монгол хэлтэй, AR-тэй, real-time, multi-guest QR ресторан захиалгын систем хөгжүүлэх.</a:t>
            </a:r>
          </a:p>
          <a:p/>
          <a:p>
            <a:r>
              <a:t>Архитектур нь layered загвараар 4 давхаргатай:</a:t>
            </a:r>
          </a:p>
          <a:p>
            <a:r>
              <a:t>• ҮЗҮҮЛБЭР ДАВХАРГА — React 19 + Vite 7 + TanStack Query + Tailwind CSS</a:t>
            </a:r>
          </a:p>
          <a:p>
            <a:r>
              <a:t>• API ДАВХАРГА — Express 5 + Socket.IO 4 + JWT auth</a:t>
            </a:r>
          </a:p>
          <a:p>
            <a:r>
              <a:t>• ӨГӨГДЛИЙН ДАВХАРГА — PostgreSQL 16 + Drizzle ORM, 14 хүснэгт</a:t>
            </a:r>
          </a:p>
          <a:p>
            <a:r>
              <a:t>• ГАДААД ҮЙЛЧИЛГЭЭ — Cloudflare tunnel, model-viewer AR</a:t>
            </a:r>
          </a:p>
          <a:p/>
          <a:p>
            <a:r>
              <a:t>Бүх давхрага хооронд тодорхой interface. Энэ нь maintainability болон scalability-г хангаж байгаа гол шийдэл.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[ДУРДАЖ ӨНГӨРӨХ — 60 сек]</a:t>
            </a:r>
          </a:p>
          <a:p/>
          <a:p>
            <a:r>
              <a:t>Эдгээр нь жинхэнэ систем дээрх 3 mobile screenshot.</a:t>
            </a:r>
          </a:p>
          <a:p/>
          <a:p>
            <a:r>
              <a:t>ЗҮҮН — Зочин QR-аа уншуулаад цэс рүү орлоо. Категори chip-ээр шүүх, "AR view" товчоор хоолоо урьдчилан 3D-ээр харах боломжтой.</a:t>
            </a:r>
          </a:p>
          <a:p/>
          <a:p>
            <a:r>
              <a:t>ДУНД — Сагсанд хоолоо хийгээд тоо ширхэгээ нэмэх/хасах. Нийт дүн доороо real-time-аар тоологдоно.</a:t>
            </a:r>
          </a:p>
          <a:p/>
          <a:p>
            <a:r>
              <a:t>БАРУУН — Захиалга илгээсний дараа автоматаар очдог "захиалгын төлөв" хуудас. "Бэлдэж буй" → "Бэлэн" гэсэн алхамууд real-time-аар шинэчлэгдэнэ — refresh хийх шаардлагагүй.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60 сек]</a:t>
            </a:r>
          </a:p>
          <a:p/>
          <a:p>
            <a:r>
              <a:t>ЗҮҮН ТАЛД — захиалгын самбар (/admin). Орж ирсэн захиалгуудыг Kanban загвараар "Бэлдэж буй / Бэлэн / Хүргэгдсэн" гэсэн 3 баганаар хувааж байгаа. Гал тогооч төлвийг дарахад зочны утсанд real-time-аар badge харагдана.</a:t>
            </a:r>
          </a:p>
          <a:p/>
          <a:p>
            <a:r>
              <a:t>БАРУУН ТАЛД — ширээний удирдлага. Менежер шинэ ширээ нэмэхэд систем UUID-аар qr_token автоматаар үүсгэж, QR кодыг шууд хэвлэх боломжтой PNG болгож өгнө. Энэ QR-уудыг хэвлээд ширээн дээр тогтооно.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[ДУРДАЖ ӨНГӨРӨХ — 45 сек]</a:t>
            </a:r>
          </a:p>
          <a:p/>
          <a:p>
            <a:r>
              <a:t>Энд менежерийн нэмэлт 3 модулийг харуулж байна.</a:t>
            </a:r>
          </a:p>
          <a:p/>
          <a:p>
            <a:r>
              <a:t>ЗҮҮН — Ажилтны нэвтрэх дэлгэц. JWT баталгаажуулалт, bcrypt password hash. Manager / Chef / Cashier гэсэн 3 дүртэй, role-based middleware.</a:t>
            </a:r>
          </a:p>
          <a:p/>
          <a:p>
            <a:r>
              <a:t>ДУНД — Цэс удирдлага. Хоол нэмэх, зураг ачаалах, .glb AR model хавсаргах боломжтой.</a:t>
            </a:r>
          </a:p>
          <a:p/>
          <a:p>
            <a:r>
              <a:t>БАРУУН — Тайлангийн дэлгэц. Өдрийн орлого, эрэлттэй хоолны жагсаалт, цаг тутмын ачаалал — бүгд Recharts library-ээр визуал болгож үзүүлж байна.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энэ слайд хамгийн чухал — 100 сек]</a:t>
            </a:r>
          </a:p>
          <a:p/>
          <a:p>
            <a:r>
              <a:t>Зочны бүрэн ажиллах урсгал 7 алхамтай:</a:t>
            </a:r>
          </a:p>
          <a:p/>
          <a:p>
            <a:r>
              <a:t>1. QR scan — Зочин ширээнийхээ QR-ыг утсаар уншина</a:t>
            </a:r>
          </a:p>
          <a:p>
            <a:r>
              <a:t>2. Session үүсэх — Сервер qr_token-ийг шалгаж JWT олгоно</a:t>
            </a:r>
          </a:p>
          <a:p>
            <a:r>
              <a:t>3. Цэс — Хоол сонгож сагсанд оруулна, хүсвэл AR-аар үзнэ</a:t>
            </a:r>
          </a:p>
          <a:p>
            <a:r>
              <a:t>4. Илгээх — POST /api/cart дуудлага, DB-д захиалга үүсэх, inventory автомат хасагдах</a:t>
            </a:r>
          </a:p>
          <a:p>
            <a:r>
              <a:t>5. Real-time event — Socket.IO order:new event бүх ажилтан руу broadcast</a:t>
            </a:r>
          </a:p>
          <a:p>
            <a:r>
              <a:t>6. Бэлдэлт — Chef Kanban-аас 'Бэлэн' даравал зочинд утсанд push мэдэгдэл</a:t>
            </a:r>
          </a:p>
          <a:p>
            <a:r>
              <a:t>7. Төлбөр — Cashier QPay / бэлэн / карт сонгож, session хаагдах, ширээ available болох</a:t>
            </a:r>
          </a:p>
          <a:p/>
          <a:p>
            <a:r>
              <a:t>ГОЛ ОНЦЛОГ: 5 ба 6-р алхамд ХҮНИЙ ОРОЛЦОО БАЙХГҮЙ. Захиалга, төлөв шинэчлэлт, мэдэгдэл бүгд автомат, real-time. Энэ нь ажилтны ачааллыг хамгийн их буулгасан хэсэг.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90 сек]</a:t>
            </a:r>
          </a:p>
          <a:p/>
          <a:p>
            <a:r>
              <a:t>Энэ бол манай системийн ХАМГИЙН ОНЦЛОГ ДАВУУ ТАЛ.</a:t>
            </a:r>
          </a:p>
          <a:p/>
          <a:p>
            <a:r>
              <a:t>Уламжлалт системд нэг хүн нэг утсаар захиалдаг. Бидний системд 3, 5, 10 хүн нэг QR-аар нэгдэж тус тусын утаснаасаа сонгож, ХАМТЫН САГСАНД оруулж захиалдаг.</a:t>
            </a:r>
          </a:p>
          <a:p/>
          <a:p>
            <a:r>
              <a:t>Техникийн талаас 3 PostgreSQL хүснэгт хамтран ажиллана:</a:t>
            </a:r>
          </a:p>
          <a:p>
            <a:r>
              <a:t>• table_sessions — ширээний идэвхтэй session</a:t>
            </a:r>
          </a:p>
          <a:p>
            <a:r>
              <a:t>• session_participants — хэн хэн нь нэгдсэн</a:t>
            </a:r>
          </a:p>
          <a:p>
            <a:r>
              <a:t>• shared_cart_items — хамтарсан сагс</a:t>
            </a:r>
          </a:p>
          <a:p/>
          <a:p>
            <a:r>
              <a:t>Real-time-аар нэг хүн item нэмэхэд бусдын утсанд шууд харагдана — Socket.IO session:&lt;id&gt; room ашиглаж.</a:t>
            </a:r>
          </a:p>
          <a:p/>
          <a:p>
            <a:r>
              <a:t>Use case: гэр бүлийн оройн хоол, ажилчдын lunch, найзуудтай уулзалт — group ordering-д төгс тохирно. Toast, Square зэрэг гадаад систем энэ функцийг дэмждэггүй.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60 сек]</a:t>
            </a:r>
          </a:p>
          <a:p/>
          <a:p>
            <a:r>
              <a:t>Socket.IO 4-р хувилбараар real-time event дамжуулна. Гурван логик room:</a:t>
            </a:r>
          </a:p>
          <a:p>
            <a:r>
              <a:t>• "staff" — бүх ажилтан</a:t>
            </a:r>
          </a:p>
          <a:p>
            <a:r>
              <a:t>• "chef" — зөвхөн гал тогооч</a:t>
            </a:r>
          </a:p>
          <a:p>
            <a:r>
              <a:t>• "session:&lt;id&gt;" — тухайн ширээний зочид</a:t>
            </a:r>
          </a:p>
          <a:p/>
          <a:p>
            <a:r>
              <a:t>Sequence diagram-аас харахад: зочин 'Захиалга илгээх' дарахад POST /api/cart явна → DB write → Socket.IO order:new event → chef room руу broadcast. Refresh шаардлагагүй.</a:t>
            </a:r>
          </a:p>
          <a:p/>
          <a:p>
            <a:r>
              <a:t>Хэмжсэн дундаж latency: loopback ~8.5 мс, Cloudflare tunnel-ээр ~142 мс, P95 195 мс. Энэ нь хүний нүдэнд "шууд" мэдрэгдэх түвшин (200 мс-ээс доош).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[ДУРДАЖ ӨНГӨРӨХ — 45 сек]</a:t>
            </a:r>
          </a:p>
          <a:p/>
          <a:p>
            <a:r>
              <a:t>Менежерийн самбарт 9 үндсэн модуль:</a:t>
            </a:r>
          </a:p>
          <a:p>
            <a:r>
              <a:t>1. Цэс удирдах</a:t>
            </a:r>
          </a:p>
          <a:p>
            <a:r>
              <a:t>2. Ширээ + QR хэвлэх</a:t>
            </a:r>
          </a:p>
          <a:p>
            <a:r>
              <a:t>3. Нөөц хяналт — доод түвшинд алерт</a:t>
            </a:r>
          </a:p>
          <a:p>
            <a:r>
              <a:t>4. Ажилтан удирдлага</a:t>
            </a:r>
          </a:p>
          <a:p>
            <a:r>
              <a:t>5. Орлогын тайлан</a:t>
            </a:r>
          </a:p>
          <a:p>
            <a:r>
              <a:t>6. Банер карусел</a:t>
            </a:r>
          </a:p>
          <a:p>
            <a:r>
              <a:t>7. Зочдын сэтгэгдэл</a:t>
            </a:r>
          </a:p>
          <a:p>
            <a:r>
              <a:t>8. Захиалгын түүх</a:t>
            </a:r>
          </a:p>
          <a:p>
            <a:r>
              <a:t>9. Тохиргоо</a:t>
            </a:r>
          </a:p>
          <a:p/>
          <a:p>
            <a:r>
              <a:t>Эдгээр нь CRUD endpoint + Role-based middleware-ээр хамгаалагдсан.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60 сек]</a:t>
            </a:r>
          </a:p>
          <a:p/>
          <a:p>
            <a:r>
              <a:t>AR ашиглах болсон шалтгаан: зочин хоолоо захиалахаас өмнө хэмжээ, өнгө, бүтцийг 3D-ээр харах. Google-ийн e-commerce судалгаагаар AR ашигласан үед буцаалт 40%-иар буурдаг, conversion 94%-иар өсдөг.</a:t>
            </a:r>
          </a:p>
          <a:p/>
          <a:p>
            <a:r>
              <a:t>Технологийн стек:</a:t>
            </a:r>
          </a:p>
          <a:p>
            <a:r>
              <a:t>• &lt;model-viewer&gt; — Google-ийн нээлттэй web component</a:t>
            </a:r>
          </a:p>
          <a:p>
            <a:r>
              <a:t>• .glb формат — GLTF binary 3D model</a:t>
            </a:r>
          </a:p>
          <a:p>
            <a:r>
              <a:t>• WebXR API — placement</a:t>
            </a:r>
          </a:p>
          <a:p>
            <a:r>
              <a:t>• iOS Quick Look + Android Scene Viewer — нэмэлт config-гүй шууд ажиллана</a:t>
            </a:r>
          </a:p>
          <a:p>
            <a:r>
              <a:t>• WebGL fallback — тогтворгүй утсанд 3D rotate</a:t>
            </a:r>
          </a:p>
          <a:p/>
          <a:p>
            <a:r>
              <a:t>Энэ нь plug-and-play, native app шаардахгүй — browser-ээс шууд.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60 сек]</a:t>
            </a:r>
          </a:p>
          <a:p/>
          <a:p>
            <a:r>
              <a:t>Энэ бол AR-ийн жинхэнэ ажиллагааны 2 screenshot. Зүүн талд нэг хоол, баруун талд өөр хоол — хоёул зочны ширээн дээр placement хийгдсэн байдал.</a:t>
            </a:r>
          </a:p>
          <a:p/>
          <a:p>
            <a:r>
              <a:t>Бодит хэмжээгээр харагдаж байгаагаа анхаарна уу — Blender дээр boundary box-ыг empirical-ээр 29% (scale 0.000435) болгож тааруулсан учир хоолны жинхэнэ диаметртэй (10-25 см) ойролцоо.</a:t>
            </a:r>
          </a:p>
          <a:p/>
          <a:p>
            <a:r>
              <a:t>Зочин AR view-ийг камераар нээгээд гар хөдөлгөж placement хийнэ. Хоолны өнгө, гарнитур, тавиурын өндрийг бодитойгоор үзэх боломж. Гадаад зочдод нэр ойлгомжгүй ч зургаар сонгох шинэ боломж.</a:t>
            </a:r>
          </a:p>
          <a:p/>
          <a:p>
            <a:r>
              <a:t>Native app огт шаардлагагүй — browser-ээс шууд. iPhone дээр Safari Quick Look, Android дээр Chrome Scene Viewer автоматаар идэвхждэг.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[ДУРДАЖ ӨНГӨРӨХ — 45 сек]</a:t>
            </a:r>
          </a:p>
          <a:p/>
          <a:p>
            <a:r>
              <a:t>AR ажиллах 6 алхам:</a:t>
            </a:r>
          </a:p>
          <a:p>
            <a:r>
              <a:t>1. Зочин цэс нээнэ</a:t>
            </a:r>
          </a:p>
          <a:p>
            <a:r>
              <a:t>2. AR view идэвхтэй хоолыг сонгоно (model_url тохируулсан хоолны мөрд товч идэвхтэй)</a:t>
            </a:r>
          </a:p>
          <a:p>
            <a:r>
              <a:t>3. View товч даравал .glb ачаалагдана</a:t>
            </a:r>
          </a:p>
          <a:p>
            <a:r>
              <a:t>4. Browser камерын зөвшөөрөл асууна</a:t>
            </a:r>
          </a:p>
          <a:p>
            <a:r>
              <a:t>5. Камераар ширээний дээр placement, бодит хэмжээгээр харагдана</a:t>
            </a:r>
          </a:p>
          <a:p>
            <a:r>
              <a:t>6. AR view хааж захиалга нэмнэ</a:t>
            </a:r>
          </a:p>
          <a:p/>
          <a:p>
            <a:r>
              <a:t>iOS дээр Quick Look, Android дээр Scene Viewer автоматаар нээгдэнэ.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[ДЭЛГЭРЭНГҮЙ ЯРИХ — 90 сек]</a:t>
            </a:r>
          </a:p>
          <a:p/>
          <a:p>
            <a:r>
              <a:t>Хэмжсэн 4 гол үзүүлэлт:</a:t>
            </a:r>
          </a:p>
          <a:p/>
          <a:p>
            <a:r>
              <a:t>1. ФУНКЦИОНАЛ ТУРШИЛТ — 8 test script, бүгд PASS:</a:t>
            </a:r>
          </a:p>
          <a:p>
            <a:r>
              <a:t>   QR session нээх, цэс үзэх, сагс, multi-guest нэгдэх, Socket realtime, AR view, тайлан, нэвтрэлт</a:t>
            </a:r>
          </a:p>
          <a:p/>
          <a:p>
            <a:r>
              <a:t>2. ХУГАЦАА — захиалгын дундаж 4 минут → 1 минут (75% бууралт)</a:t>
            </a:r>
          </a:p>
          <a:p/>
          <a:p>
            <a:r>
              <a:t>3. АЛДАА — зөөгчийн алдаа 5 удаа/өдөр → 1 удаа/өдөр (5 дахин цөөрсөн)</a:t>
            </a:r>
          </a:p>
          <a:p/>
          <a:p>
            <a:r>
              <a:t>4. SUS ОНОО — System Usability Scale 82/100. Industry дунж 68. "Good"-ээс "Excellent" руу шилжсэн.</a:t>
            </a:r>
          </a:p>
          <a:p/>
          <a:p>
            <a:r>
              <a:t>Анхааруулга: эдгээр нь демо орчны preliminary хэмжээс. Бодит ресторанд field study хийх нь ирээдүйн ажил байна.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[ДУРДАЖ ӨНГӨРӨХ — хаах үг, 30 сек]</a:t>
            </a:r>
          </a:p>
          <a:p/>
          <a:p>
            <a:r>
              <a:t>Дүгнэлт:</a:t>
            </a:r>
          </a:p>
          <a:p>
            <a:r>
              <a:t>• 43 REST endpoint, 12 Socket.IO event, 14 PostgreSQL хүснэгт хэрэгжсэн</a:t>
            </a:r>
          </a:p>
          <a:p>
            <a:r>
              <a:t>• Multi-guest, AR, real-time бүх онцлог ажиллаж байна</a:t>
            </a:r>
          </a:p>
          <a:p>
            <a:r>
              <a:t>• Захиалгын хугацаа 75% буурч, алдаа 5 дахин цөөрсөн</a:t>
            </a:r>
          </a:p>
          <a:p>
            <a:r>
              <a:t>• Open-source, монгол хэлтэй, локал хостингтой — Монголын зах зээлд бэлэн</a:t>
            </a:r>
          </a:p>
          <a:p/>
          <a:p>
            <a:r>
              <a:t>Анхаарал тавьсанд баярлалаа.</a:t>
            </a:r>
          </a:p>
          <a:p/>
          <a:p>
            <a:r>
              <a:t>Асуултад хариулахад бэлэн байна.</a:t>
            </a:r>
          </a:p>
          <a:p/>
          <a:p>
            <a:r>
              <a:t>ХҮЛЭЭГДЭЖ БУЙ АСУУЛТУУД (бэлдсэн):</a:t>
            </a:r>
          </a:p>
          <a:p>
            <a:r>
              <a:t>• Хэрэв хэрэглэгч ачаалал нэмэгдвэл? → horizontal scale, Redis adapter</a:t>
            </a:r>
          </a:p>
          <a:p>
            <a:r>
              <a:t>• Аюулгүй байдал? → JWT + bcrypt + RBAC + CORS + rate limit</a:t>
            </a:r>
          </a:p>
          <a:p>
            <a:r>
              <a:t>• Bug бий юу? → 8 test PASS, гэхдээ field study хэрэгтэй</a:t>
            </a:r>
          </a:p>
          <a:p>
            <a:r>
              <a:t>• Үнэ? → Open-source, hosting сард 5-15 доллар</a:t>
            </a:r>
          </a:p>
          <a:p>
            <a:r>
              <a:t>• AR хувилбаргүй утсанд? → WebGL 3D rotate fallback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37160" cy="68580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 i="0">
                <a:solidFill>
                  <a:srgbClr val="00467F"/>
                </a:solidFill>
                <a:latin typeface="Calibri"/>
              </a:rPr>
              <a:t>ӨМНӨГОВЬ АЙМАГ ДАХЬ ТЕХНОЛОГИЙН ДЭЭД СУРГУУЛЬ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058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 i="1">
                <a:solidFill>
                  <a:srgbClr val="4682B4"/>
                </a:solidFill>
                <a:latin typeface="Calibri"/>
              </a:rPr>
              <a:t>Програм хангамжийн тэнхим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758952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 i="0">
                <a:solidFill>
                  <a:srgbClr val="1E1E1E"/>
                </a:solidFill>
                <a:latin typeface="Calibri"/>
              </a:rPr>
              <a:t>QR-кодоор ширээнээс шууд хоол захиалах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2800" b="1" i="0">
                <a:solidFill>
                  <a:srgbClr val="00467F"/>
                </a:solidFill>
                <a:latin typeface="Calibri"/>
              </a:rPr>
              <a:t>бодит цаг хугацааны вэб систем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0" i="1">
                <a:solidFill>
                  <a:srgbClr val="4682B4"/>
                </a:solidFill>
                <a:latin typeface="Calibri"/>
              </a:rPr>
              <a:t>— Системийн ажиллах явц 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572000"/>
            <a:ext cx="6675120" cy="15544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4709160"/>
            <a:ext cx="6126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1E1E1E"/>
                </a:solidFill>
                <a:latin typeface="Calibri"/>
              </a:rPr>
              <a:t>Зохиогч:  Эрдэнэтөгсийн Очбадрах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5074920"/>
            <a:ext cx="6126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Удирдагч:  П. Нарангэрэл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5394960"/>
            <a:ext cx="6126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Зөвлөгч:  доктор Б. Намжилдорж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5715000"/>
            <a:ext cx="6126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Огноо:  2026 он, 5-р сар   ·   Даланзадгад, Өмнөговь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Үндэслэл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Уламжлалт үйлчилгээний урсгал ба түүний дутагдал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4864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Уламжлалт урсгалд тулгардаг саад: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486400" cy="4389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 </a:t>
            </a:r>
            <a:r>
              <a:rPr sz="1300" b="1">
                <a:solidFill>
                  <a:srgbClr val="00467F"/>
                </a:solidFill>
                <a:latin typeface="Calibri"/>
              </a:rPr>
              <a:t>Хүлээлт</a:t>
            </a:r>
            <a:r>
              <a:rPr sz="1300">
                <a:solidFill>
                  <a:srgbClr val="1E1E1E"/>
                </a:solidFill>
                <a:latin typeface="Calibri"/>
              </a:rPr>
              <a:t> — Үйлчлэгч олон ширээ хооронд гүйж хүрэхгүй, зочин 10-15 мин хүлээдэг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 </a:t>
            </a:r>
            <a:r>
              <a:rPr sz="1300" b="1">
                <a:solidFill>
                  <a:srgbClr val="00467F"/>
                </a:solidFill>
                <a:latin typeface="Calibri"/>
              </a:rPr>
              <a:t>Алдаа</a:t>
            </a:r>
            <a:r>
              <a:rPr sz="1300">
                <a:solidFill>
                  <a:srgbClr val="1E1E1E"/>
                </a:solidFill>
                <a:latin typeface="Calibri"/>
              </a:rPr>
              <a:t> — Цаасан дээр гар бичих, аман дамжуулах нь буруу захиалга үүсгэдэг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 </a:t>
            </a:r>
            <a:r>
              <a:rPr sz="1300" b="1">
                <a:solidFill>
                  <a:srgbClr val="00467F"/>
                </a:solidFill>
                <a:latin typeface="Calibri"/>
              </a:rPr>
              <a:t>Харьцалт</a:t>
            </a:r>
            <a:r>
              <a:rPr sz="1300">
                <a:solidFill>
                  <a:srgbClr val="1E1E1E"/>
                </a:solidFill>
                <a:latin typeface="Calibri"/>
              </a:rPr>
              <a:t> — Менежер хоол, нөөц, орлогыг бодит цагт харах боломжгүй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 </a:t>
            </a:r>
            <a:r>
              <a:rPr sz="1300" b="1">
                <a:solidFill>
                  <a:srgbClr val="00467F"/>
                </a:solidFill>
                <a:latin typeface="Calibri"/>
              </a:rPr>
              <a:t>Олон зочин</a:t>
            </a:r>
            <a:r>
              <a:rPr sz="1300">
                <a:solidFill>
                  <a:srgbClr val="1E1E1E"/>
                </a:solidFill>
                <a:latin typeface="Calibri"/>
              </a:rPr>
              <a:t> — Нэг ширээний хүн бүрд тус тус үйлчлэх — олон удаа эргэнэ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00467F"/>
                </a:solidFill>
                <a:latin typeface="Calibri"/>
              </a:rPr>
              <a:t>▸  </a:t>
            </a:r>
            <a:r>
              <a:rPr sz="1300" b="1">
                <a:solidFill>
                  <a:srgbClr val="00467F"/>
                </a:solidFill>
                <a:latin typeface="Calibri"/>
              </a:rPr>
              <a:t>Хэлний саад</a:t>
            </a:r>
            <a:r>
              <a:rPr sz="1300">
                <a:solidFill>
                  <a:srgbClr val="1E1E1E"/>
                </a:solidFill>
                <a:latin typeface="Calibri"/>
              </a:rPr>
              <a:t> — Гадаад зочдод үйлчлэгч цэс тайлбарлахад бэрхшээлтэй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303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Зах зээлийн боломж (Монгол улс):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20240"/>
            <a:ext cx="1463040" cy="8686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14630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78.4%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14630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00" b="0" i="0">
                <a:solidFill>
                  <a:srgbClr val="D4A017"/>
                </a:solidFill>
                <a:latin typeface="Calibri"/>
              </a:rPr>
              <a:t>stat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57400"/>
            <a:ext cx="356616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1E1E"/>
                </a:solidFill>
                <a:latin typeface="Calibri"/>
              </a:rPr>
              <a:t>Смартфоны хүртээмж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1463040" cy="8686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14630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14630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00" b="0" i="0">
                <a:solidFill>
                  <a:srgbClr val="D4A017"/>
                </a:solidFill>
                <a:latin typeface="Calibri"/>
              </a:rPr>
              <a:t>stat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63240"/>
            <a:ext cx="356616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1E1E"/>
                </a:solidFill>
                <a:latin typeface="Calibri"/>
              </a:rPr>
              <a:t>Шинэ технологи нэвтрүүлэхэд саад туларсан рестораны хувь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1463040" cy="8686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977640"/>
            <a:ext cx="14630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5,200+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34840"/>
            <a:ext cx="14630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00" b="0" i="0">
                <a:solidFill>
                  <a:srgbClr val="D4A017"/>
                </a:solidFill>
                <a:latin typeface="Calibri"/>
              </a:rPr>
              <a:t>stat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069080"/>
            <a:ext cx="356616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1E1E"/>
                </a:solidFill>
                <a:latin typeface="Calibri"/>
              </a:rPr>
              <a:t>Улаанбаатар хотын хүнсний үйлчилгээний газар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937760"/>
            <a:ext cx="1463040" cy="8686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983480"/>
            <a:ext cx="14630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40680"/>
            <a:ext cx="146304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800" b="0" i="0">
                <a:solidFill>
                  <a:srgbClr val="D4A017"/>
                </a:solidFill>
                <a:latin typeface="Calibri"/>
              </a:rPr>
              <a:t>stat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074920"/>
            <a:ext cx="3566160" cy="5943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E1E1E"/>
                </a:solidFill>
                <a:latin typeface="Calibri"/>
              </a:rPr>
              <a:t>QR ашиглалт 2020-2023 онд өссөн (Ази)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Ижил төстэй системийн харьцуулсан судалгаа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Гадаад худалдааны системүүд vs Энэхүү шийдэл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508760"/>
          <a:ext cx="1124711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419"/>
                <a:gridCol w="1934988"/>
                <a:gridCol w="1934988"/>
                <a:gridCol w="1934988"/>
                <a:gridCol w="2418735"/>
              </a:tblGrid>
              <a:tr h="487680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Шалгуур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Toast POS
(АНУ)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Lightspeed
(Канад)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Square
(АНУ)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Энэхүү систем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48768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QR захиалга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Нэмэлт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Нэмэлт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Тийм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Гол функц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Realtime WebSocket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Хэсэгчлэн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Тийм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Хэсэгчлэн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Тийм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8768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Multi-guest нэг ширээнд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Тийм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Монгол хэл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Тийм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8768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QPay / SocialPay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Бэлэн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Сарын зардал (USD)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69-165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69-135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60+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~10-25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48768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AR 3D загвар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Тийм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Нээлттэй эх код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Үгүй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1100">
                          <a:solidFill>
                            <a:srgbClr val="1E1E1E"/>
                          </a:solidFill>
                          <a:latin typeface="Calibri"/>
                        </a:rPr>
                        <a:t>Тийм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989320"/>
            <a:ext cx="11247120" cy="502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1">
                <a:solidFill>
                  <a:srgbClr val="1E1E1E"/>
                </a:solidFill>
                <a:latin typeface="Calibri"/>
              </a:rPr>
              <a:t>Энэхүү системийн давуу тал: open-source, монгол хэлтэй, локал төлбөртэй интегралд бэлэн, multi-guest + AR-тэй цорын ганц шийдэл.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Зорилго ба архитектур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11064240" cy="100584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106070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Calibri"/>
              </a:rPr>
              <a:t>ГОЛ ЗОРИЛГО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QR кодоор зочин өөрөө захиалга өгч, ажилтан real-time хүлээн авч боловсруулдаг, менежер нөөц, орлогоо хянадаг цогц вэб систем.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10642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0467F"/>
                </a:solidFill>
                <a:latin typeface="Calibri"/>
              </a:rPr>
              <a:t>4 давхаргат архитектур: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8960"/>
            <a:ext cx="11064240" cy="777240"/>
          </a:xfrm>
          <a:prstGeom prst="roundRect">
            <a:avLst/>
          </a:prstGeom>
          <a:solidFill>
            <a:srgbClr val="DCE9F5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00467F"/>
                </a:solidFill>
                <a:latin typeface="Calibri"/>
              </a:rPr>
              <a:t>КЛИЕНТ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00400"/>
            <a:ext cx="850392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React 19 · Vite 7 · TanStack Query · Tailwind CSS · shadcn/ui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77640"/>
            <a:ext cx="11064240" cy="777240"/>
          </a:xfrm>
          <a:prstGeom prst="roundRect">
            <a:avLst/>
          </a:prstGeom>
          <a:solidFill>
            <a:srgbClr val="FDE7C9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069080"/>
            <a:ext cx="850392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Express 5 · TypeScript · JWT · 43 REST endpoint · zod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1064240" cy="777240"/>
          </a:xfrm>
          <a:prstGeom prst="roundRect">
            <a:avLst/>
          </a:prstGeom>
          <a:solidFill>
            <a:srgbClr val="D8F1D8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3776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Calibri"/>
              </a:rPr>
              <a:t>REALTIME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37760"/>
            <a:ext cx="850392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Socket.IO 4 · Rooms · 12 event төрөл · авто-reconnect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715000"/>
            <a:ext cx="11064240" cy="777240"/>
          </a:xfrm>
          <a:prstGeom prst="roundRect">
            <a:avLst/>
          </a:prstGeom>
          <a:solidFill>
            <a:srgbClr val="E9D8F1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806440"/>
            <a:ext cx="219456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500" b="1" i="0">
                <a:solidFill>
                  <a:srgbClr val="6A1B9A"/>
                </a:solidFill>
                <a:latin typeface="Calibri"/>
              </a:rPr>
              <a:t>ӨГӨГДӨЛ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806440"/>
            <a:ext cx="850392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1E1E1E"/>
                </a:solidFill>
                <a:latin typeface="Calibri"/>
              </a:rPr>
              <a:t>PostgreSQL 16 · Drizzle ORM · 14 хүснэгт · ACID транзакц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Системийн дэлгэцүүд (1) — Зочны хэсэг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Гар утсаар QR-ийг уншуулсны дараах зочны 3 үндсэн дэлгэц</a:t>
            </a:r>
          </a:p>
        </p:txBody>
      </p:sp>
      <p:pic>
        <p:nvPicPr>
          <p:cNvPr id="9" name="Picture 8" descr="guest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17320"/>
            <a:ext cx="237744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6080760"/>
            <a:ext cx="2377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00467F"/>
                </a:solidFill>
                <a:latin typeface="Calibri"/>
              </a:rPr>
              <a:t>Зочны цэс  (/menu?t=...)</a:t>
            </a:r>
          </a:p>
        </p:txBody>
      </p:sp>
      <p:pic>
        <p:nvPicPr>
          <p:cNvPr id="11" name="Picture 10" descr="guest-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417320"/>
            <a:ext cx="237744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92040" y="6080760"/>
            <a:ext cx="2377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00467F"/>
                </a:solidFill>
                <a:latin typeface="Calibri"/>
              </a:rPr>
              <a:t>Сагс  (/cart)</a:t>
            </a:r>
          </a:p>
        </p:txBody>
      </p:sp>
      <p:pic>
        <p:nvPicPr>
          <p:cNvPr id="13" name="Picture 12" descr="guest-order-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417320"/>
            <a:ext cx="2377440" cy="457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0" y="6080760"/>
            <a:ext cx="2377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00467F"/>
                </a:solidFill>
                <a:latin typeface="Calibri"/>
              </a:rPr>
              <a:t>Захиалгын төлөв  (/order-status)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Системийн дэлгэцүүд (2) — Ажилтны самбар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Захиалгын урсгал ба ширээний удирдлагын дэлгэц</a:t>
            </a:r>
          </a:p>
        </p:txBody>
      </p:sp>
      <p:pic>
        <p:nvPicPr>
          <p:cNvPr id="9" name="Picture 8" descr="staff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0"/>
            <a:ext cx="557784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623560"/>
            <a:ext cx="5577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00467F"/>
                </a:solidFill>
                <a:latin typeface="Calibri"/>
              </a:rPr>
              <a:t>Захиалгын самбар  (/admin)</a:t>
            </a:r>
          </a:p>
        </p:txBody>
      </p:sp>
      <p:pic>
        <p:nvPicPr>
          <p:cNvPr id="11" name="Picture 10" descr="staff-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554480"/>
            <a:ext cx="5577840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623560"/>
            <a:ext cx="5577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00467F"/>
                </a:solidFill>
                <a:latin typeface="Calibri"/>
              </a:rPr>
              <a:t>Ширээ + QR код  (/admin/tables)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Системийн дэлгэцүүд (3) — Цэс, тайлан, нэвтрэх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Менежерийн нэмэлт удирдлагын модулиуд</a:t>
            </a:r>
          </a:p>
        </p:txBody>
      </p:sp>
      <p:pic>
        <p:nvPicPr>
          <p:cNvPr id="9" name="Picture 8" descr="login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4480"/>
            <a:ext cx="3703320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553212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00467F"/>
                </a:solidFill>
                <a:latin typeface="Calibri"/>
              </a:rPr>
              <a:t>Нэвтрэх  (/login)</a:t>
            </a:r>
          </a:p>
        </p:txBody>
      </p:sp>
      <p:pic>
        <p:nvPicPr>
          <p:cNvPr id="11" name="Picture 10" descr="staff-menu-man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54480"/>
            <a:ext cx="3703320" cy="3931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1960" y="553212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00467F"/>
                </a:solidFill>
                <a:latin typeface="Calibri"/>
              </a:rPr>
              <a:t>Цэс удирдлага  (/admin/menu)</a:t>
            </a:r>
          </a:p>
        </p:txBody>
      </p:sp>
      <p:pic>
        <p:nvPicPr>
          <p:cNvPr id="13" name="Picture 12" descr="staff-repo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554480"/>
            <a:ext cx="3703320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83879" y="5532120"/>
            <a:ext cx="370332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00467F"/>
                </a:solidFill>
                <a:latin typeface="Calibri"/>
              </a:rPr>
              <a:t>Тайлан  (/admin/reports)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Зочны захиалгын бүрэн ажиллах урсгал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QR scan-аас төлбөр баталгаажтал явах 7 алхам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1489165" cy="3200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0322" y="1691640"/>
            <a:ext cx="502920" cy="50292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1489165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48916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1E1E"/>
                </a:solidFill>
                <a:latin typeface="Calibri"/>
              </a:rPr>
              <a:t>1. QR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1397725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Зочин ширээний QR-ыг утсаар уншуулна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46365.7142857143" y="3154680.0"/>
            <a:ext cx="137160.0" cy="0.0"/>
          </a:xfrm>
          <a:prstGeom prst="line">
            <a:avLst/>
          </a:prstGeom>
          <a:ln w="25400"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083525" y="1554480"/>
            <a:ext cx="1489165" cy="3200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76648" y="1691640"/>
            <a:ext cx="502920" cy="50292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3525" y="1691640"/>
            <a:ext cx="1489165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3525" y="2286000"/>
            <a:ext cx="148916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1E1E"/>
                </a:solidFill>
                <a:latin typeface="Calibri"/>
              </a:rPr>
              <a:t>2.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9245" y="2697480"/>
            <a:ext cx="1397725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Сервер ширээний qr_token шалгаж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session JWT олгоно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72691.4285714286" y="3154680.0"/>
            <a:ext cx="137160.0" cy="0.0"/>
          </a:xfrm>
          <a:prstGeom prst="line">
            <a:avLst/>
          </a:prstGeom>
          <a:ln w="25400"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09851" y="1554480"/>
            <a:ext cx="1489165" cy="3200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02974" y="1691640"/>
            <a:ext cx="502920" cy="50292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9851" y="1691640"/>
            <a:ext cx="1489165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9851" y="2286000"/>
            <a:ext cx="148916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1E1E"/>
                </a:solidFill>
                <a:latin typeface="Calibri"/>
              </a:rPr>
              <a:t>3. Цэс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5571" y="2697480"/>
            <a:ext cx="1397725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Цэснээс хоол сонгож сагсанд оруулна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(AR view-аар үзэх боломжтой)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99017.142857143" y="3154680.0"/>
            <a:ext cx="137160.0" cy="0.0"/>
          </a:xfrm>
          <a:prstGeom prst="line">
            <a:avLst/>
          </a:prstGeom>
          <a:ln w="25400"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336177" y="1554480"/>
            <a:ext cx="1489165" cy="3200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829300" y="1691640"/>
            <a:ext cx="502920" cy="50292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36177" y="1691640"/>
            <a:ext cx="1489165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6177" y="2286000"/>
            <a:ext cx="148916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1E1E"/>
                </a:solidFill>
                <a:latin typeface="Calibri"/>
              </a:rPr>
              <a:t>4. Илгээх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81897" y="2697480"/>
            <a:ext cx="1397725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POST /api/cart → DB-д захиалга үүснэ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inventory автомат хасагдана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25342.857142857" y="3154680.0"/>
            <a:ext cx="137160.0" cy="0.0"/>
          </a:xfrm>
          <a:prstGeom prst="line">
            <a:avLst/>
          </a:prstGeom>
          <a:ln w="25400"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62502" y="1554480"/>
            <a:ext cx="1489165" cy="3200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455625" y="1691640"/>
            <a:ext cx="502920" cy="50292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62502" y="1691640"/>
            <a:ext cx="1489165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2502" y="2286000"/>
            <a:ext cx="148916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1E1E"/>
                </a:solidFill>
                <a:latin typeface="Calibri"/>
              </a:rPr>
              <a:t>5. Realtime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8222" y="2697480"/>
            <a:ext cx="1397725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Socket.IO order:new event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broadcast → бүх ажилтан мэдэгдэнэ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51668.57142857" y="3154680.0"/>
            <a:ext cx="137160.0" cy="0.0"/>
          </a:xfrm>
          <a:prstGeom prst="line">
            <a:avLst/>
          </a:prstGeom>
          <a:ln w="25400"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588828" y="1554480"/>
            <a:ext cx="1489165" cy="3200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81951" y="1691640"/>
            <a:ext cx="502920" cy="50292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88828" y="1691640"/>
            <a:ext cx="1489165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👨‍🍳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88828" y="2286000"/>
            <a:ext cx="148916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1E1E"/>
                </a:solidFill>
                <a:latin typeface="Calibri"/>
              </a:rPr>
              <a:t>6. Бэлдэлт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4548" y="2697480"/>
            <a:ext cx="1397725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Chef Kanban-аас 'Бэлдэх' → 'Бэлэн'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badge real-time зочны утсанд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77994.285714285" y="3154680.0"/>
            <a:ext cx="137160.0" cy="0.0"/>
          </a:xfrm>
          <a:prstGeom prst="line">
            <a:avLst/>
          </a:prstGeom>
          <a:ln w="25400">
            <a:solidFill>
              <a:srgbClr val="00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215154" y="1554480"/>
            <a:ext cx="1489165" cy="32004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08277" y="1691640"/>
            <a:ext cx="502920" cy="50292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15154" y="1691640"/>
            <a:ext cx="1489165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5154" y="2286000"/>
            <a:ext cx="148916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1E1E"/>
                </a:solidFill>
                <a:latin typeface="Calibri"/>
              </a:rPr>
              <a:t>7. Төлбөр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60874" y="2697480"/>
            <a:ext cx="1397725" cy="19202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Cashier QPay/cash/card сонгоно</a:t>
            </a:r>
          </a:p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06060"/>
                </a:solidFill>
                <a:latin typeface="Calibri"/>
              </a:rPr>
              <a:t>session хаагдаж ширээ available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983480"/>
            <a:ext cx="11247120" cy="64008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🔑  Энэ урсгалын 5-6 алхамд хүний оролцоо БАЙХГҮЙ — захиалга, төлөв шинэчлэлт бүгд автомат + real-time.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Multi-guest QR session — олон зочин нэг ширээн дээр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Гэр бүлийн, нөхдийн орхиол үед хэрэгцээтэй боломж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828800" cy="329184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88720" y="1627632"/>
            <a:ext cx="548640" cy="10972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47088"/>
            <a:ext cx="1609344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847088"/>
            <a:ext cx="1609344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892808"/>
            <a:ext cx="160934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Ширээ #3 — Болд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30428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00467F"/>
                </a:solidFill>
                <a:latin typeface="Calibri"/>
              </a:rPr>
              <a:t>Зочин: Болд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62432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session #12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94436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64407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Миний захиалга: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58444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🍴 Бууз x2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90448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🥤 Кофе x1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24527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1554480"/>
            <a:ext cx="1828800" cy="329184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00400" y="1627632"/>
            <a:ext cx="548640" cy="10972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70048" y="1847088"/>
            <a:ext cx="1609344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70048" y="1847088"/>
            <a:ext cx="1609344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70048" y="1892808"/>
            <a:ext cx="160934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Ширээ #3 — Сараа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230428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00467F"/>
                </a:solidFill>
                <a:latin typeface="Calibri"/>
              </a:rPr>
              <a:t>Зочин: Сараа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262432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session #12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294436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3264407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Миний захиалга: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1488" y="358444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🍜 Цуйван x1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390448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🧃 Жүүс x1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4224527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1554480"/>
            <a:ext cx="1828800" cy="329184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212080" y="1627632"/>
            <a:ext cx="548640" cy="109728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81728" y="1847088"/>
            <a:ext cx="1609344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81728" y="1847088"/>
            <a:ext cx="1609344" cy="3657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1892808"/>
            <a:ext cx="160934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Ширээ #3 — Зул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73168" y="230428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00467F"/>
                </a:solidFill>
                <a:latin typeface="Calibri"/>
              </a:rPr>
              <a:t>Зочин: Зул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262432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  <a:latin typeface="Calibri"/>
              </a:rPr>
              <a:t>session #12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294436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3264407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Миний захиалга: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358444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🥩 Шарсан мах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3904488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>🍰 Бялуу x2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3168" y="4224527"/>
            <a:ext cx="1426464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0">
                <a:solidFill>
                  <a:srgbClr val="1E1E1E"/>
                </a:solidFill>
                <a:latin typeface="Calibri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66560" y="1737360"/>
            <a:ext cx="4937760" cy="2926080"/>
          </a:xfrm>
          <a:prstGeom prst="round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1874520"/>
            <a:ext cx="49377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🪑  ШИРЭЭ #3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2377440"/>
            <a:ext cx="4937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Calibri"/>
              </a:rPr>
              <a:t>Session #12 (нэгдсэн)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2788920"/>
            <a:ext cx="1371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Calibri"/>
              </a:rPr>
              <a:t>Болд: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2788920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Бууз x2 + Кофе x1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154680"/>
            <a:ext cx="1371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Calibri"/>
              </a:rPr>
              <a:t>Сараа: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154680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Цуйван x1 + Жүүс x1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3520440"/>
            <a:ext cx="1371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Calibri"/>
              </a:rPr>
              <a:t>Зул: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38160" y="3520440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Шарсан мах + Бялуу x2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3886200"/>
            <a:ext cx="137160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  <a:latin typeface="Calibri"/>
              </a:rPr>
              <a:t>Бүгд: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38160" y="3886200"/>
            <a:ext cx="33832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8 мөр  ·  84,500₮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1737360.0" y="4389120"/>
            <a:ext cx="5212080.0" cy="548640"/>
          </a:xfrm>
          <a:prstGeom prst="line">
            <a:avLst/>
          </a:prstGeom>
          <a:ln w="2540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749040.0" y="4389120"/>
            <a:ext cx="3200400.0" cy="548640"/>
          </a:xfrm>
          <a:prstGeom prst="line">
            <a:avLst/>
          </a:prstGeom>
          <a:ln w="2540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60720.0" y="4389120"/>
            <a:ext cx="1188720.0" cy="548640"/>
          </a:xfrm>
          <a:prstGeom prst="line">
            <a:avLst/>
          </a:prstGeom>
          <a:ln w="25400">
            <a:solidFill>
              <a:srgbClr val="D4A0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48640" y="5074920"/>
            <a:ext cx="1106424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🔧 Хэрхэн ажилладаг вэ?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532120"/>
            <a:ext cx="10607040" cy="960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467F"/>
                </a:solidFill>
                <a:latin typeface="Calibri"/>
              </a:rPr>
              <a:t>•  </a:t>
            </a:r>
            <a:r>
              <a:rPr sz="1000">
                <a:solidFill>
                  <a:srgbClr val="1E1E1E"/>
                </a:solidFill>
                <a:latin typeface="Calibri"/>
              </a:rPr>
              <a:t>1. QR scan-д table_sessions хүснэгтэд нэг session үүсгэнэ (хэрэв байхгүй бол)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467F"/>
                </a:solidFill>
                <a:latin typeface="Calibri"/>
              </a:rPr>
              <a:t>•  </a:t>
            </a:r>
            <a:r>
              <a:rPr sz="1000">
                <a:solidFill>
                  <a:srgbClr val="1E1E1E"/>
                </a:solidFill>
                <a:latin typeface="Calibri"/>
              </a:rPr>
              <a:t>2. Нэмэлт зочин session_participants-д бүртгэгдэж Socket.IO 'participant:joined' event broadcast хийнэ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467F"/>
                </a:solidFill>
                <a:latin typeface="Calibri"/>
              </a:rPr>
              <a:t>•  </a:t>
            </a:r>
            <a:r>
              <a:rPr sz="1000">
                <a:solidFill>
                  <a:srgbClr val="1E1E1E"/>
                </a:solidFill>
                <a:latin typeface="Calibri"/>
              </a:rPr>
              <a:t>3. shared_cart_items хүснэгт нь session-д харьяалагдан хамтын сагсыг real-time бүх төхөөрөмжид синхрончилно</a:t>
            </a:r>
          </a:p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467F"/>
                </a:solidFill>
                <a:latin typeface="Calibri"/>
              </a:rPr>
              <a:t>•  </a:t>
            </a:r>
            <a:r>
              <a:rPr sz="1000">
                <a:solidFill>
                  <a:srgbClr val="1E1E1E"/>
                </a:solidFill>
                <a:latin typeface="Calibri"/>
              </a:rPr>
              <a:t>4. 10 минутын дотор давтан захиалга өгсөн зочны item хуучин захиалга руу coalescing хийгдэнэ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Бодит цаг хугацааны захиалгын дамжуулалт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Socket.IO room архитектураар захиалга ширээнээс хүн бүрд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0467F"/>
                </a:solidFill>
                <a:latin typeface="Calibri"/>
              </a:rPr>
              <a:t>📡 Захиалгын урсгал (sequence):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20240"/>
            <a:ext cx="15544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00467F"/>
                </a:solidFill>
                <a:latin typeface="Calibri"/>
              </a:rPr>
              <a:t>Зочин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2024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onsolas"/>
              </a:rPr>
              <a:t>POST /api/cart илгээнэ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468880"/>
            <a:ext cx="15544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alibri"/>
              </a:rPr>
              <a:t>API сервер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46888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onsolas"/>
              </a:rPr>
              <a:t>DB-д захиалга үүсгэнэ</a:t>
            </a:r>
          </a:p>
          <a:p>
            <a:pPr algn="l"/>
            <a:r>
              <a:rPr sz="1000" b="0" i="0">
                <a:solidFill>
                  <a:srgbClr val="1E1E1E"/>
                </a:solidFill>
                <a:latin typeface="Consolas"/>
              </a:rPr>
              <a:t>(transactional)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17520"/>
            <a:ext cx="15544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Socket.IO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01752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onsolas"/>
              </a:rPr>
              <a:t>io.to('restaurant_1').emit('order:new')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566160"/>
            <a:ext cx="15544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  <a:latin typeface="Calibri"/>
              </a:rPr>
              <a:t>Chef клиент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56616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onsolas"/>
              </a:rPr>
              <a:t>Kanban-д шинэ карт нэмэгдэнэ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114800"/>
            <a:ext cx="15544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alibri"/>
              </a:rPr>
              <a:t>Chef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11480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onsolas"/>
              </a:rPr>
              <a:t>'Бэлдэх' товч → PATCH /orders/:id/status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663440"/>
            <a:ext cx="15544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  <a:latin typeface="Calibri"/>
              </a:rPr>
              <a:t>Socket.IO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66344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onsolas"/>
              </a:rPr>
              <a:t>io.to('table_3').emit('order:status')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5212080"/>
            <a:ext cx="365760" cy="365760"/>
          </a:xfrm>
          <a:prstGeom prst="ellipse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2120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212080"/>
            <a:ext cx="1554480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00467F"/>
                </a:solidFill>
                <a:latin typeface="Calibri"/>
              </a:rPr>
              <a:t>Зочны клиент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212080"/>
            <a:ext cx="36576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onsolas"/>
              </a:rPr>
              <a:t>Badge real-time шинэчлэгдэнэ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1508760"/>
            <a:ext cx="48463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0467F"/>
                </a:solidFill>
                <a:latin typeface="Calibri"/>
              </a:rPr>
              <a:t>🏠 Socket.IO room архитектур: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1965960"/>
            <a:ext cx="4846320" cy="10515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205740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onsolas"/>
              </a:rPr>
              <a:t>restaurant_1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242316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Бүх ажилтан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order:new, inventory:low, review:new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3154680"/>
            <a:ext cx="4846320" cy="10515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32461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  <a:latin typeface="Consolas"/>
              </a:rPr>
              <a:t>session_&lt;qrToken&gt;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61188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Тухайн ширээний бүх зочин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participant:joined, cart:updated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4343400"/>
            <a:ext cx="4846320" cy="10515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95160" y="443484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  <a:latin typeface="Consolas"/>
              </a:rPr>
              <a:t>table_&lt;tableId&gt;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800600"/>
            <a:ext cx="4572000" cy="5943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Тухайн ширээний бүх захиалга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order:status, payment:received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760720"/>
            <a:ext cx="11064240" cy="64008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⚡  Хэмжсэн дундаж latency: loopback ~8.5 мс, Cloudflare tunnel ~142 мс (P95 195 мс). 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Менежерийн удирдлагын боломжууд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9 үндсэн модуль — manager role-д бүгд хандах эрхтэй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Орлогын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Өдөр / 7 хоног / сар-аар Recharts pie + bar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Төлбөрийн арга нягтаршил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45920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645920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Цэс удирдлага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48840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Хоол / ангилал CRUD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Зураг upload (multer)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3D model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45920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45920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Ширээ + QR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48840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QR код PDF хэвлэх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QR rotation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Статус (available / occupied)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81528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72968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72968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Нөөц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75888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Inventory CRUD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Автомат хасалт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Доод хэмжээ сэрэмжлүүлэг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081528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172968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172968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Ажилтан + ээлж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675888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Хэрэглэгч CRUD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Role assign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Shift open/close + кассын нэгтгэл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081528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172968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172968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Banner / урамшуулал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675888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Зураг + linkUrl нэмэх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Карусел дараалал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Эх/идэвхгүй sонголт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608576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700016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700016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Сэтгэгдэл moderation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202936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1-5 одтой үнэлгээ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Approve / reject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Reply бичих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4608576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4700016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4700016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Урьдчилсан захиалга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202936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Огноо / цаг / хүний тоо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Managerт notification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Available шилжүүлэх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608576"/>
            <a:ext cx="3703320" cy="14173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700016"/>
            <a:ext cx="45720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200" b="1" i="0">
                <a:solidFill>
                  <a:srgbClr val="00467F"/>
                </a:solidFill>
                <a:latin typeface="Calibri"/>
              </a:rPr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700016"/>
            <a:ext cx="292608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00467F"/>
                </a:solidFill>
                <a:latin typeface="Calibri"/>
              </a:rPr>
              <a:t>Тайлан + орлого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5202936"/>
            <a:ext cx="3429000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Шилдэг борлуулалт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Нөөц зарцуулалт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E1E1E"/>
                </a:solidFill>
                <a:latin typeface="Calibri"/>
              </a:rPr>
              <a:t>Date range query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 (Augmented Reality) — давуу тал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Хоолны 3D загварыг утаснаас бодит ширээний дээр харах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6858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00467F"/>
                </a:solidFill>
                <a:latin typeface="Calibri"/>
              </a:rPr>
              <a:t>Хэрэглэгчид өгөх давуу тал: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6858000" cy="43891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 </a:t>
            </a:r>
            <a:r>
              <a:rPr sz="1200" b="1">
                <a:solidFill>
                  <a:srgbClr val="00467F"/>
                </a:solidFill>
                <a:latin typeface="Calibri"/>
              </a:rPr>
              <a:t>Захиалгын баталгаа</a:t>
            </a:r>
            <a:r>
              <a:rPr sz="1200">
                <a:solidFill>
                  <a:srgbClr val="1E1E1E"/>
                </a:solidFill>
                <a:latin typeface="Calibri"/>
              </a:rPr>
              <a:t> — Зочин хоолыг үзээгүйгээс татгалзах магадлал 35%-иар буурдаг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 </a:t>
            </a:r>
            <a:r>
              <a:rPr sz="1200" b="1">
                <a:solidFill>
                  <a:srgbClr val="00467F"/>
                </a:solidFill>
                <a:latin typeface="Calibri"/>
              </a:rPr>
              <a:t>Хоолны хэмжээ</a:t>
            </a:r>
            <a:r>
              <a:rPr sz="1200">
                <a:solidFill>
                  <a:srgbClr val="1E1E1E"/>
                </a:solidFill>
                <a:latin typeface="Calibri"/>
              </a:rPr>
              <a:t> — Бодит хэмжээ, тавиурын тоо, гарнитур харах боломж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 </a:t>
            </a:r>
            <a:r>
              <a:rPr sz="1200" b="1">
                <a:solidFill>
                  <a:srgbClr val="00467F"/>
                </a:solidFill>
                <a:latin typeface="Calibri"/>
              </a:rPr>
              <a:t>Гадаад зочид</a:t>
            </a:r>
            <a:r>
              <a:rPr sz="1200">
                <a:solidFill>
                  <a:srgbClr val="1E1E1E"/>
                </a:solidFill>
                <a:latin typeface="Calibri"/>
              </a:rPr>
              <a:t> — Хоолны нэр ойлгомжгүй ч 3D загвараар сонгож чадна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 </a:t>
            </a:r>
            <a:r>
              <a:rPr sz="1200" b="1">
                <a:solidFill>
                  <a:srgbClr val="00467F"/>
                </a:solidFill>
                <a:latin typeface="Calibri"/>
              </a:rPr>
              <a:t>Маркетинг</a:t>
            </a:r>
            <a:r>
              <a:rPr sz="1200">
                <a:solidFill>
                  <a:srgbClr val="1E1E1E"/>
                </a:solidFill>
                <a:latin typeface="Calibri"/>
              </a:rPr>
              <a:t> — Шинэ хоол санал болгох — зураг + тайлбараас илүү үр дүнтэй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 </a:t>
            </a:r>
            <a:r>
              <a:rPr sz="1200" b="1">
                <a:solidFill>
                  <a:srgbClr val="00467F"/>
                </a:solidFill>
                <a:latin typeface="Calibri"/>
              </a:rPr>
              <a:t>Брендийн ялгарал</a:t>
            </a:r>
            <a:r>
              <a:rPr sz="1200">
                <a:solidFill>
                  <a:srgbClr val="1E1E1E"/>
                </a:solidFill>
                <a:latin typeface="Calibri"/>
              </a:rPr>
              <a:t> — Монголд анх удаа AR-тэй ресторан — өрсөлдөөнт давуу тал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00467F"/>
                </a:solidFill>
                <a:latin typeface="Calibri"/>
              </a:rPr>
              <a:t>▸  </a:t>
            </a:r>
            <a:r>
              <a:rPr sz="1200" b="1">
                <a:solidFill>
                  <a:srgbClr val="00467F"/>
                </a:solidFill>
                <a:latin typeface="Calibri"/>
              </a:rPr>
              <a:t>Хэрэглээ хялбар</a:t>
            </a:r>
            <a:r>
              <a:rPr sz="1200">
                <a:solidFill>
                  <a:srgbClr val="1E1E1E"/>
                </a:solidFill>
                <a:latin typeface="Calibri"/>
              </a:rPr>
              <a:t> — Тусдаа app суулгахгүй — браузерт суурилсан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508760"/>
            <a:ext cx="4114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  <a:latin typeface="Calibri"/>
              </a:rPr>
              <a:t>Технологийн стек: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965960"/>
            <a:ext cx="4114800" cy="502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96596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&lt;model-viewer&gt;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965960"/>
            <a:ext cx="1828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Google web component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560320"/>
            <a:ext cx="4114800" cy="502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56032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.glb формат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560320"/>
            <a:ext cx="1828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GLTF binary 3D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154680"/>
            <a:ext cx="4114800" cy="502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315468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WebXR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154680"/>
            <a:ext cx="1828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AR placement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3749040"/>
            <a:ext cx="4114800" cy="502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374904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iOS Quick Look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749040"/>
            <a:ext cx="1828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iPhone 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343400"/>
            <a:ext cx="4114800" cy="502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43434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Scene 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4343400"/>
            <a:ext cx="1828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Android 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4937760"/>
            <a:ext cx="4114800" cy="502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493776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  <a:latin typeface="Consolas"/>
              </a:rPr>
              <a:t>WebGL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937760"/>
            <a:ext cx="1828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 i="0">
                <a:solidFill>
                  <a:srgbClr val="1E1E1E"/>
                </a:solidFill>
                <a:latin typeface="Calibri"/>
              </a:rPr>
              <a:t>Тогтворгүй үед 3D rotate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 — жинхэнэ ажиллагаа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Хоолны 3D загварыг бодит ширээний дээр placement хийсэн байдал</a:t>
            </a:r>
          </a:p>
        </p:txBody>
      </p:sp>
      <p:pic>
        <p:nvPicPr>
          <p:cNvPr id="9" name="Picture 8" descr="ar-food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120640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669280"/>
            <a:ext cx="51206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Calibri"/>
              </a:rPr>
              <a:t>Хоол №1 — AR placement</a:t>
            </a:r>
          </a:p>
        </p:txBody>
      </p:sp>
      <p:pic>
        <p:nvPicPr>
          <p:cNvPr id="11" name="Picture 10" descr="ar-food-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554480"/>
            <a:ext cx="5120640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5669280"/>
            <a:ext cx="51206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 i="0">
                <a:solidFill>
                  <a:srgbClr val="E67E22"/>
                </a:solidFill>
                <a:latin typeface="Calibri"/>
              </a:rPr>
              <a:t>Хоол №2 — AR placement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080760"/>
            <a:ext cx="1124712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✨  Browser-аас шууд ажиллана — native app шаардлагагүй.  &lt;model-viewer&gt; + .glb + WebXR/Quick Look/Scene Viewer.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 ажиллах явц — алхам алхмаар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Зочин хоолны 3D загварыг бодит ширээний дээр харах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0292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548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554480"/>
            <a:ext cx="2971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Цэс нээх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48840"/>
            <a:ext cx="3429000" cy="1417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Зочин QR scan-ийн дараа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Guest MenuPage нээгдэнэ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703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70332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554480"/>
            <a:ext cx="548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554480"/>
            <a:ext cx="2971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AR-тай хоол сонгох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48840"/>
            <a:ext cx="3429000" cy="1417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model_url-тай хоолны мөрд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⟨AR view⟩ товч идэвхтэй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554480"/>
            <a:ext cx="3703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554480"/>
            <a:ext cx="370332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54480"/>
            <a:ext cx="548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1554480"/>
            <a:ext cx="2971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View товч дарах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48840"/>
            <a:ext cx="3429000" cy="1417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&lt;model-viewer&gt; компонент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.glb файл ачаалагдана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3703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40480"/>
            <a:ext cx="370332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0"/>
            <a:ext cx="548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840480"/>
            <a:ext cx="2971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4. Камераар хандах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434840"/>
            <a:ext cx="3429000" cy="1417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Browser permission асууна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(iOS Quick Look / Android Scene Viewer)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840480"/>
            <a:ext cx="3703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840480"/>
            <a:ext cx="3703320" cy="50292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840480"/>
            <a:ext cx="548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3840480"/>
            <a:ext cx="2971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5. Ширээний дээр placement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434840"/>
            <a:ext cx="3429000" cy="1417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AR-аар хоолыг шилжүүлж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бодит хэмжээгээр харна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840480"/>
            <a:ext cx="3703320" cy="21031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840480"/>
            <a:ext cx="370332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3840480"/>
            <a:ext cx="54864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3840480"/>
            <a:ext cx="2971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6. Захиалга нэмэх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434840"/>
            <a:ext cx="3429000" cy="1417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AR view хаагаад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E1E1E"/>
                </a:solidFill>
                <a:latin typeface="Calibri"/>
              </a:rPr>
              <a:t>'⊕ нэмэх' товчоор сагсанд оруулна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989320"/>
            <a:ext cx="11247120" cy="502920"/>
          </a:xfrm>
          <a:prstGeom prst="round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⚠  Тэмдэглэл: AR placement зөвхөн ARCore / ARKit дэмжсэн утаснууд дээр ажиллана. Бусдад WebGL 3D rotate fallback хийгдэнэ.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1051560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Туршилт ба үр дүн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64592"/>
            <a:ext cx="21031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Өмнөговь ТДС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457200"/>
            <a:ext cx="2103120" cy="2743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900" b="0" i="1">
                <a:solidFill>
                  <a:srgbClr val="FFFFFF"/>
                </a:solidFill>
                <a:latin typeface="Calibri"/>
              </a:rPr>
              <a:t>Бакалаврын дипломын ажил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4682B4"/>
                </a:solidFill>
                <a:latin typeface="Calibri"/>
              </a:rPr>
              <a:t>Демо орчны preliminary үнэлгээ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6060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260604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600" b="1" i="0">
                <a:solidFill>
                  <a:srgbClr val="2E7D32"/>
                </a:solidFill>
                <a:latin typeface="Calibri"/>
              </a:rPr>
              <a:t>~75%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26060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Захиалгын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хугацаа буурсан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554480"/>
            <a:ext cx="26060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691640"/>
            <a:ext cx="260604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  <a:latin typeface="Calibri"/>
              </a:rPr>
              <a:t>5x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60320"/>
            <a:ext cx="26060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Захиалгын алдаа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цөөрсөн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554480"/>
            <a:ext cx="26060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46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1691640"/>
            <a:ext cx="260604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600" b="1" i="0">
                <a:solidFill>
                  <a:srgbClr val="00467F"/>
                </a:solidFill>
                <a:latin typeface="Calibri"/>
              </a:rPr>
              <a:t>84.2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560320"/>
            <a:ext cx="26060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SUS оноо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(100-аас)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554480"/>
            <a:ext cx="26060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691640"/>
            <a:ext cx="2606040" cy="8229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3600" b="1" i="0">
                <a:solidFill>
                  <a:srgbClr val="6A1B9A"/>
                </a:solidFill>
                <a:latin typeface="Calibri"/>
              </a:rPr>
              <a:t>8.5 мс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560320"/>
            <a:ext cx="260604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WS round-trip</a:t>
            </a:r>
          </a:p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06060"/>
                </a:solidFill>
                <a:latin typeface="Calibri"/>
              </a:rPr>
              <a:t>(loopback)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291840"/>
            <a:ext cx="11247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Функциональ туршилт — 8 хэрэглээний скрипт: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3703320"/>
          <a:ext cx="11247118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922"/>
                <a:gridCol w="5675152"/>
                <a:gridCol w="1444584"/>
                <a:gridCol w="3611460"/>
              </a:tblGrid>
              <a:tr h="264160"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Хэрэглээний скрипт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Үр дүн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  <a:tc>
                  <a:txBody>
                    <a:bodyPr wrap="square" lIns="54000" rIns="54000" tIns="36000" bIns="36000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Тэмдэглэл</a:t>
                      </a:r>
                    </a:p>
                  </a:txBody>
                  <a:tcPr>
                    <a:solidFill>
                      <a:srgbClr val="00467F"/>
                    </a:solidFill>
                  </a:tcPr>
                </a:tc>
              </a:tr>
              <a:tr h="26416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Менежер → Ширээ үүсгэх → QR хэвлэх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QR PDF гарсан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Утсаар QR scan → Нэр → Цэс үзэх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Камераар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6416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3 хоол сонгож → Захиалга илгээх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Bottom sheet сагс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Chef-д real-time захиалга харагдсан эсэх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Socket.IO ~150мс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6416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Chef 'Бэлдэх' → 'Бэлэн' status солих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Badge 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Cashier төлбөр баталгаажуулах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Cash/Card сонгох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26416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Менежер dashboard-аас орлого/тайлан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Recharts визуал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160"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AR view-тай хоол placement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✓ Pass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 wrap="square" lIns="54000" rIns="54000" tIns="27000" bIns="27000"/>
                    <a:lstStyle/>
                    <a:p>
                      <a:pPr algn="l"/>
                      <a:r>
                        <a:rPr sz="900">
                          <a:solidFill>
                            <a:srgbClr val="1E1E1E"/>
                          </a:solidFill>
                          <a:latin typeface="Calibri"/>
                        </a:rPr>
                        <a:t>ARCore Android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621792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606060"/>
                </a:solidFill>
                <a:latin typeface="Calibri"/>
              </a:rPr>
              <a:t>Тэмдэглэл: эдгээр нь демо орчны preliminary хэмжээс. Бодит ресторанд явуулах field study нь ирээдүйн ажил.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82296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QR-кодон ресторан захиалгын систем — Системийн ажиллах явц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565392"/>
            <a:ext cx="182880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000" b="1" i="0">
                <a:solidFill>
                  <a:srgbClr val="D4A017"/>
                </a:solidFill>
                <a:latin typeface="Calibri"/>
              </a:rPr>
              <a:t>✓ Дипломын ажлын дүгнэлт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91640"/>
            <a:ext cx="9418320" cy="219456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D4A0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3657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8686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43 REST endpoint + 12 Socket.IO event + 14 PostgreSQL хүснэгт хэрэгжсэн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31720"/>
            <a:ext cx="3657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331720"/>
            <a:ext cx="8686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Multi-guest QR session + AR 3D viewer + real-time notification бүхий бүрэн систем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34640"/>
            <a:ext cx="3657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834640"/>
            <a:ext cx="8686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Демо туршилтад захиалгын хугацаа ~75% буурч, алдаа 5x цөөрсөн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337560"/>
            <a:ext cx="3657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337560"/>
            <a:ext cx="8686800" cy="5029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300" b="0" i="0">
                <a:solidFill>
                  <a:srgbClr val="1E1E1E"/>
                </a:solidFill>
                <a:latin typeface="Calibri"/>
              </a:rPr>
              <a:t>Open-source, монгол хэлтэй, локал хостингтой — Монголын зах зээлд бэлэн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АНХААРАЛ ТАВЬСАНД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4572000"/>
            <a:ext cx="12191695" cy="73152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5600" b="1" i="0">
                <a:solidFill>
                  <a:srgbClr val="D4A017"/>
                </a:solidFill>
                <a:latin typeface="Calibri"/>
              </a:rPr>
              <a:t>БАЯРЛАЛАА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Асуулт байвал хариулахад бэлэн байна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0" i="1">
                <a:solidFill>
                  <a:srgbClr val="F2F6FA"/>
                </a:solidFill>
                <a:latin typeface="Calibri"/>
              </a:rPr>
              <a:t>Эрдэнэтөгсийн Очбадрах   ·   2026 он   ·   Өмнөговь ТДС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