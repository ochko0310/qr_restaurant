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4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0" y="-1828800"/>
            <a:ext cx="5486400" cy="5486400"/>
          </a:xfrm>
          <a:prstGeom prst="roundRect">
            <a:avLst>
              <a:gd name="adj" fmla="val 12000"/>
            </a:avLst>
          </a:prstGeom>
          <a:solidFill>
            <a:srgbClr val="326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34095" y="3200400"/>
            <a:ext cx="5486400" cy="5486400"/>
          </a:xfrm>
          <a:prstGeom prst="roundRect">
            <a:avLst>
              <a:gd name="adj" fmla="val 12000"/>
            </a:avLst>
          </a:prstGeom>
          <a:solidFill>
            <a:srgbClr val="326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ДИПЛОМЫН АЖИЛ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28655" cy="2286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Рестораны ширээ захиалга,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цэс удирдлагын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мобайл систем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457200" cy="45720"/>
          </a:xfrm>
          <a:prstGeom prst="rect">
            <a:avLst/>
          </a:prstGeom>
          <a:solidFill>
            <a:srgbClr val="E685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QR кодод суурилсан, бодит цагийн харилцаатай, олон төхөөрөмж дэмжсэн систем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Дипломант: Ц. Эрхэмбаяр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Удирдагч багш: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84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1. Шийдэхийг зорьсон асуудал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94415" cy="105156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37160" cy="1051560"/>
          </a:xfrm>
          <a:prstGeom prst="rect">
            <a:avLst/>
          </a:prstGeom>
          <a:solidFill>
            <a:srgbClr val="D33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280160"/>
            <a:ext cx="1082009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1F2D3D"/>
                </a:solidFill>
                <a:latin typeface="Arial"/>
              </a:rPr>
              <a:t>Удаан үйлчилгээ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108200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6B7685"/>
                </a:solidFill>
                <a:latin typeface="Arial"/>
              </a:rPr>
              <a:t>Зочин үйлчлэгчийг хүлээх, цэс асуух, захиалга бичүүлэх,</a:t>
            </a:r>
          </a:p>
          <a:p>
            <a:pPr algn="l"/>
            <a:r>
              <a:rPr sz="1300" b="0">
                <a:solidFill>
                  <a:srgbClr val="6B7685"/>
                </a:solidFill>
                <a:latin typeface="Arial"/>
              </a:rPr>
              <a:t>дараа нь баталгаажуулах хүртэл 4–6 минут зарцуулдаг.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11094415" cy="105156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137160" cy="1051560"/>
          </a:xfrm>
          <a:prstGeom prst="rect">
            <a:avLst/>
          </a:prstGeom>
          <a:solidFill>
            <a:srgbClr val="D33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1082009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1F2D3D"/>
                </a:solidFill>
                <a:latin typeface="Arial"/>
              </a:rPr>
              <a:t>Захиалгын алдаа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80360"/>
            <a:ext cx="108200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6B7685"/>
                </a:solidFill>
                <a:latin typeface="Arial"/>
              </a:rPr>
              <a:t>Гар бичмэл захиалга → гал тогоонд буруу хүрэх, давхардах,</a:t>
            </a:r>
          </a:p>
          <a:p>
            <a:pPr algn="l"/>
            <a:r>
              <a:rPr sz="1300" b="0">
                <a:solidFill>
                  <a:srgbClr val="6B7685"/>
                </a:solidFill>
                <a:latin typeface="Arial"/>
              </a:rPr>
              <a:t>алга болох тохиолдол ~8% орчим.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57600"/>
            <a:ext cx="11094415" cy="105156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137160" cy="1051560"/>
          </a:xfrm>
          <a:prstGeom prst="rect">
            <a:avLst/>
          </a:prstGeom>
          <a:solidFill>
            <a:srgbClr val="D33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749040"/>
            <a:ext cx="1082009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1F2D3D"/>
                </a:solidFill>
                <a:latin typeface="Arial"/>
              </a:rPr>
              <a:t>Удирдлагын мэдээлэл хязгаарлагдмал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14800"/>
            <a:ext cx="108200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6B7685"/>
                </a:solidFill>
                <a:latin typeface="Arial"/>
              </a:rPr>
              <a:t>Менежер өдрийн орлого, эрэлттэй хоол, нөөцийн тоог гар </a:t>
            </a:r>
          </a:p>
          <a:p>
            <a:pPr algn="l"/>
            <a:r>
              <a:rPr sz="1300" b="0">
                <a:solidFill>
                  <a:srgbClr val="6B7685"/>
                </a:solidFill>
                <a:latin typeface="Arial"/>
              </a:rPr>
              <a:t>ажиллагаагаар нэгтгэх шаардлагатай.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92040"/>
            <a:ext cx="11094415" cy="105156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4892040"/>
            <a:ext cx="137160" cy="1051560"/>
          </a:xfrm>
          <a:prstGeom prst="rect">
            <a:avLst/>
          </a:prstGeom>
          <a:solidFill>
            <a:srgbClr val="D33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983480"/>
            <a:ext cx="1082009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1F2D3D"/>
                </a:solidFill>
                <a:latin typeface="Arial"/>
              </a:rPr>
              <a:t>Зочин ресторанд ирээгүй үед хандах боломжгүй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349240"/>
            <a:ext cx="108200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6B7685"/>
                </a:solidFill>
                <a:latin typeface="Arial"/>
              </a:rPr>
              <a:t>Цэс үзэх, ширээ урьдчилан захиалах, сэтгэгдэл уншихын</a:t>
            </a:r>
          </a:p>
          <a:p>
            <a:pPr algn="l"/>
            <a:r>
              <a:rPr sz="1300" b="0">
                <a:solidFill>
                  <a:srgbClr val="6B7685"/>
                </a:solidFill>
                <a:latin typeface="Arial"/>
              </a:rPr>
              <a:t>тулд биеэр ирэх ёстой.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Рестораны ширээ захиалга, цэс удирдлагын систем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000" b="0">
                <a:solidFill>
                  <a:srgbClr val="6B7685"/>
                </a:solidFill>
                <a:latin typeface="Arial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84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2. Бидний шийдэл — товч танилцуулга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0847" y="1097280"/>
            <a:ext cx="3657600" cy="155448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3727" y="123444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0">
                <a:solidFill>
                  <a:srgbClr val="1F2D3D"/>
                </a:solidFill>
                <a:latin typeface="Arial"/>
              </a:rPr>
              <a:t>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087" y="1234440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184AC4"/>
                </a:solidFill>
                <a:latin typeface="Arial"/>
              </a:rPr>
              <a:t>QR код = захиалга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087" y="1600200"/>
            <a:ext cx="2743200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Arial"/>
              </a:rPr>
              <a:t>Зочин ширээний QR-ыг скан хийгээд гар утаснаасаа цэс үзэж, захиалгаа өгнө.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7047" y="1097280"/>
            <a:ext cx="3657600" cy="155448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49927" y="123444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0">
                <a:solidFill>
                  <a:srgbClr val="1F2D3D"/>
                </a:solidFill>
                <a:latin typeface="Arial"/>
              </a:rP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4287" y="1234440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184AC4"/>
                </a:solidFill>
                <a:latin typeface="Arial"/>
              </a:rPr>
              <a:t>Бодит цагт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4287" y="1600200"/>
            <a:ext cx="2743200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Arial"/>
              </a:rPr>
              <a:t>Захиалга, статус, нөөц, нийт орлого — Socket.IO-ээр шууд шинэчлэгдэнэ.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3247" y="1097280"/>
            <a:ext cx="3657600" cy="155448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36127" y="123444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0">
                <a:solidFill>
                  <a:srgbClr val="1F2D3D"/>
                </a:solidFill>
                <a:latin typeface="Arial"/>
              </a:rPr>
              <a:t>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0487" y="1234440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184AC4"/>
                </a:solidFill>
                <a:latin typeface="Arial"/>
              </a:rPr>
              <a:t>Олон төхөөрөмж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0487" y="1600200"/>
            <a:ext cx="2743200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Arial"/>
              </a:rPr>
              <a:t>Нэг ширээний хэд хэдэн зочин нэгэн зэрэг скан хийж, нэг хамтын сагс хуваалцана.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0847" y="2880360"/>
            <a:ext cx="3657600" cy="155448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3727" y="301752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0">
                <a:solidFill>
                  <a:srgbClr val="1F2D3D"/>
                </a:solidFill>
                <a:latin typeface="Arial"/>
              </a:rPr>
              <a:t>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8087" y="3017520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184AC4"/>
                </a:solidFill>
                <a:latin typeface="Arial"/>
              </a:rPr>
              <a:t>QR-гүйгээр ч хандах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8087" y="3383280"/>
            <a:ext cx="2743200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Arial"/>
              </a:rPr>
              <a:t>Цэс, ширээний урьдчилан захиалга, сэтгэгдэл — интернетээс шууд.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67047" y="2880360"/>
            <a:ext cx="3657600" cy="155448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49927" y="301752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0">
                <a:solidFill>
                  <a:srgbClr val="1F2D3D"/>
                </a:solidFill>
                <a:latin typeface="Arial"/>
              </a:rP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4287" y="3017520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184AC4"/>
                </a:solidFill>
                <a:latin typeface="Arial"/>
              </a:rPr>
              <a:t>Удирдлагын самбар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4287" y="3383280"/>
            <a:ext cx="2743200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Arial"/>
              </a:rPr>
              <a:t>Захиалга, цэс, нөөц, тайлан, ширээний QR — нэг дэлгэцэнд.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53247" y="2880360"/>
            <a:ext cx="3657600" cy="155448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36127" y="301752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0">
                <a:solidFill>
                  <a:srgbClr val="1F2D3D"/>
                </a:solidFill>
                <a:latin typeface="Arial"/>
              </a:rPr>
              <a:t>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0487" y="3017520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184AC4"/>
                </a:solidFill>
                <a:latin typeface="Arial"/>
              </a:rPr>
              <a:t>Аюулгүй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0487" y="3383280"/>
            <a:ext cx="2743200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Arial"/>
              </a:rPr>
              <a:t>JWT нэвтрэлт, ephemeral session token, role-based access.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Рестораны ширээ захиалга, цэс удирдлагын систем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000" b="0">
                <a:solidFill>
                  <a:srgbClr val="6B7685"/>
                </a:solidFill>
                <a:latin typeface="Arial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84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3. Системийн архитектур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E0E9F7"/>
                </a:solidFill>
                <a:latin typeface="Arial"/>
              </a:rPr>
              <a:t>4 давхаргат клиент–серверийн загвар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188720"/>
            <a:ext cx="9448495" cy="960120"/>
          </a:xfrm>
          <a:prstGeom prst="roundRect">
            <a:avLst>
              <a:gd name="adj" fmla="val 12000"/>
            </a:avLst>
          </a:prstGeom>
          <a:solidFill>
            <a:srgbClr val="D9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1280160"/>
            <a:ext cx="889985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1F2D3D"/>
                </a:solidFill>
                <a:latin typeface="Arial"/>
              </a:rPr>
              <a:t>1. Харуулах давхарга (Presentation)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691640"/>
            <a:ext cx="889985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6B7685"/>
                </a:solidFill>
                <a:latin typeface="Arial"/>
              </a:rPr>
              <a:t>React 18 · TypeScript · Tailwind CSS v4 · Vite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286000"/>
            <a:ext cx="9448495" cy="960120"/>
          </a:xfrm>
          <a:prstGeom prst="roundRect">
            <a:avLst>
              <a:gd name="adj" fmla="val 12000"/>
            </a:avLst>
          </a:prstGeom>
          <a:solidFill>
            <a:srgbClr val="D0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0" y="2377440"/>
            <a:ext cx="889985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1F2D3D"/>
                </a:solidFill>
                <a:latin typeface="Arial"/>
              </a:rPr>
              <a:t>2. API давхарга (Application)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788920"/>
            <a:ext cx="889985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6B7685"/>
                </a:solidFill>
                <a:latin typeface="Arial"/>
              </a:rPr>
              <a:t>Node.js · Express.js · Socket.IO v4 · 43 REST endpoint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383280"/>
            <a:ext cx="9448495" cy="960120"/>
          </a:xfrm>
          <a:prstGeom prst="roundRect">
            <a:avLst>
              <a:gd name="adj" fmla="val 12000"/>
            </a:avLst>
          </a:prstGeom>
          <a:solidFill>
            <a:srgbClr val="FDE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45920" y="3474720"/>
            <a:ext cx="889985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1F2D3D"/>
                </a:solidFill>
                <a:latin typeface="Arial"/>
              </a:rPr>
              <a:t>3. Бизнес логик (Business Logic)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886200"/>
            <a:ext cx="889985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6B7685"/>
                </a:solidFill>
                <a:latin typeface="Arial"/>
              </a:rPr>
              <a:t>JWT HS256 · Role-based access · Drizzle ORM · Zod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480560"/>
            <a:ext cx="9448495" cy="960120"/>
          </a:xfrm>
          <a:prstGeom prst="roundRect">
            <a:avLst>
              <a:gd name="adj" fmla="val 12000"/>
            </a:avLst>
          </a:prstGeom>
          <a:solidFill>
            <a:srgbClr val="FAD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45920" y="4572000"/>
            <a:ext cx="889985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1F2D3D"/>
                </a:solidFill>
                <a:latin typeface="Arial"/>
              </a:rPr>
              <a:t>4. Өгөгдлийн давхарга (Data)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983480"/>
            <a:ext cx="889985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6B7685"/>
                </a:solidFill>
                <a:latin typeface="Arial"/>
              </a:rPr>
              <a:t>PostgreSQL 16 · Drizzle migration · 11 хүснэгт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280160"/>
            <a:ext cx="640080" cy="4114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400" b="0">
                <a:solidFill>
                  <a:srgbClr val="184AC4"/>
                </a:solidFill>
                <a:latin typeface="Arial"/>
              </a:rPr>
              <a:t>↓</a:t>
            </a:r>
          </a:p>
          <a:p>
            <a:pPr algn="ctr"/>
            <a:r>
              <a:rPr sz="2400" b="0">
                <a:solidFill>
                  <a:srgbClr val="184AC4"/>
                </a:solidFill>
                <a:latin typeface="Arial"/>
              </a:rPr>
              <a:t>↓</a:t>
            </a:r>
          </a:p>
          <a:p>
            <a:pPr algn="ctr"/>
            <a:r>
              <a:rPr sz="2400" b="0">
                <a:solidFill>
                  <a:srgbClr val="184AC4"/>
                </a:solidFill>
                <a:latin typeface="Arial"/>
              </a:rPr>
              <a:t>↓</a:t>
            </a:r>
          </a:p>
          <a:p>
            <a:pPr algn="ctr"/>
            <a:r>
              <a:rPr sz="2400" b="0">
                <a:solidFill>
                  <a:srgbClr val="184AC4"/>
                </a:solidFill>
                <a:latin typeface="Arial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1280160"/>
            <a:ext cx="640080" cy="4114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400" b="0">
                <a:solidFill>
                  <a:srgbClr val="184AC4"/>
                </a:solidFill>
                <a:latin typeface="Arial"/>
              </a:rPr>
              <a:t>↑</a:t>
            </a:r>
          </a:p>
          <a:p>
            <a:pPr algn="ctr"/>
            <a:r>
              <a:rPr sz="2400" b="0">
                <a:solidFill>
                  <a:srgbClr val="184AC4"/>
                </a:solidFill>
                <a:latin typeface="Arial"/>
              </a:rPr>
              <a:t>↑</a:t>
            </a:r>
          </a:p>
          <a:p>
            <a:pPr algn="ctr"/>
            <a:r>
              <a:rPr sz="2400" b="0">
                <a:solidFill>
                  <a:srgbClr val="184AC4"/>
                </a:solidFill>
                <a:latin typeface="Arial"/>
              </a:rPr>
              <a:t>↑</a:t>
            </a:r>
          </a:p>
          <a:p>
            <a:pPr algn="ctr"/>
            <a:r>
              <a:rPr sz="2400" b="0">
                <a:solidFill>
                  <a:srgbClr val="184AC4"/>
                </a:solidFill>
                <a:latin typeface="Arial"/>
              </a:rPr>
              <a:t>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Рестораны ширээ захиалга, цэс удирдлагын систем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000" b="0">
                <a:solidFill>
                  <a:srgbClr val="6B7685"/>
                </a:solidFill>
                <a:latin typeface="Arial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84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4. Технологийн стек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0847" y="1188720"/>
            <a:ext cx="3657600" cy="502920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0847" y="1188720"/>
            <a:ext cx="3657600" cy="548640"/>
          </a:xfrm>
          <a:prstGeom prst="rect">
            <a:avLst/>
          </a:prstGeom>
          <a:solidFill>
            <a:srgbClr val="184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0847" y="1188720"/>
            <a:ext cx="3657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167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84AC4"/>
                </a:solidFill>
                <a:latin typeface="Arial"/>
              </a:rPr>
              <a:t>▸ </a:t>
            </a:r>
            <a:r>
              <a:rPr sz="1300">
                <a:solidFill>
                  <a:srgbClr val="1F2D3D"/>
                </a:solidFill>
                <a:latin typeface="Arial"/>
              </a:rPr>
              <a:t>React 18 + TypeScript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84AC4"/>
                </a:solidFill>
                <a:latin typeface="Arial"/>
              </a:rPr>
              <a:t>▸ </a:t>
            </a:r>
            <a:r>
              <a:rPr sz="1300">
                <a:solidFill>
                  <a:srgbClr val="1F2D3D"/>
                </a:solidFill>
                <a:latin typeface="Arial"/>
              </a:rPr>
              <a:t>Vite (HMR build tool)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84AC4"/>
                </a:solidFill>
                <a:latin typeface="Arial"/>
              </a:rPr>
              <a:t>▸ </a:t>
            </a:r>
            <a:r>
              <a:rPr sz="1300">
                <a:solidFill>
                  <a:srgbClr val="1F2D3D"/>
                </a:solidFill>
                <a:latin typeface="Arial"/>
              </a:rPr>
              <a:t>Tailwind CSS v4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84AC4"/>
                </a:solidFill>
                <a:latin typeface="Arial"/>
              </a:rPr>
              <a:t>▸ </a:t>
            </a:r>
            <a:r>
              <a:rPr sz="1300">
                <a:solidFill>
                  <a:srgbClr val="1F2D3D"/>
                </a:solidFill>
                <a:latin typeface="Arial"/>
              </a:rPr>
              <a:t>TanStack Query (server state)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84AC4"/>
                </a:solidFill>
                <a:latin typeface="Arial"/>
              </a:rPr>
              <a:t>▸ </a:t>
            </a:r>
            <a:r>
              <a:rPr sz="1300">
                <a:solidFill>
                  <a:srgbClr val="1F2D3D"/>
                </a:solidFill>
                <a:latin typeface="Arial"/>
              </a:rPr>
              <a:t>Zustand (client state)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84AC4"/>
                </a:solidFill>
                <a:latin typeface="Arial"/>
              </a:rPr>
              <a:t>▸ </a:t>
            </a:r>
            <a:r>
              <a:rPr sz="1300">
                <a:solidFill>
                  <a:srgbClr val="1F2D3D"/>
                </a:solidFill>
                <a:latin typeface="Arial"/>
              </a:rPr>
              <a:t>Wouter (routing)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84AC4"/>
                </a:solidFill>
                <a:latin typeface="Arial"/>
              </a:rPr>
              <a:t>▸ </a:t>
            </a:r>
            <a:r>
              <a:rPr sz="1300">
                <a:solidFill>
                  <a:srgbClr val="1F2D3D"/>
                </a:solidFill>
                <a:latin typeface="Arial"/>
              </a:rPr>
              <a:t>shadcn/ui (UI kit)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7047" y="1188720"/>
            <a:ext cx="3657600" cy="502920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67047" y="1188720"/>
            <a:ext cx="3657600" cy="548640"/>
          </a:xfrm>
          <a:prstGeom prst="rect">
            <a:avLst/>
          </a:prstGeom>
          <a:solidFill>
            <a:srgbClr val="10A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67047" y="1188720"/>
            <a:ext cx="3657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1367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0A36E"/>
                </a:solidFill>
                <a:latin typeface="Arial"/>
              </a:rPr>
              <a:t>▸ </a:t>
            </a:r>
            <a:r>
              <a:rPr sz="1300">
                <a:solidFill>
                  <a:srgbClr val="1F2D3D"/>
                </a:solidFill>
                <a:latin typeface="Arial"/>
              </a:rPr>
              <a:t>Node.js 22 + Express.js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0A36E"/>
                </a:solidFill>
                <a:latin typeface="Arial"/>
              </a:rPr>
              <a:t>▸ </a:t>
            </a:r>
            <a:r>
              <a:rPr sz="1300">
                <a:solidFill>
                  <a:srgbClr val="1F2D3D"/>
                </a:solidFill>
                <a:latin typeface="Arial"/>
              </a:rPr>
              <a:t>Socket.IO v4 (WebSocket)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0A36E"/>
                </a:solidFill>
                <a:latin typeface="Arial"/>
              </a:rPr>
              <a:t>▸ </a:t>
            </a:r>
            <a:r>
              <a:rPr sz="1300">
                <a:solidFill>
                  <a:srgbClr val="1F2D3D"/>
                </a:solidFill>
                <a:latin typeface="Arial"/>
              </a:rPr>
              <a:t>JWT HS256 (auth)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0A36E"/>
                </a:solidFill>
                <a:latin typeface="Arial"/>
              </a:rPr>
              <a:t>▸ </a:t>
            </a:r>
            <a:r>
              <a:rPr sz="1300">
                <a:solidFill>
                  <a:srgbClr val="1F2D3D"/>
                </a:solidFill>
                <a:latin typeface="Arial"/>
              </a:rPr>
              <a:t>Drizzle ORM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0A36E"/>
                </a:solidFill>
                <a:latin typeface="Arial"/>
              </a:rPr>
              <a:t>▸ </a:t>
            </a:r>
            <a:r>
              <a:rPr sz="1300">
                <a:solidFill>
                  <a:srgbClr val="1F2D3D"/>
                </a:solidFill>
                <a:latin typeface="Arial"/>
              </a:rPr>
              <a:t>Zod (validation)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0A36E"/>
                </a:solidFill>
                <a:latin typeface="Arial"/>
              </a:rPr>
              <a:t>▸ </a:t>
            </a:r>
            <a:r>
              <a:rPr sz="1300">
                <a:solidFill>
                  <a:srgbClr val="1F2D3D"/>
                </a:solidFill>
                <a:latin typeface="Arial"/>
              </a:rPr>
              <a:t>bcrypt (password hash)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0A36E"/>
                </a:solidFill>
                <a:latin typeface="Arial"/>
              </a:rPr>
              <a:t>▸ </a:t>
            </a:r>
            <a:r>
              <a:rPr sz="1300">
                <a:solidFill>
                  <a:srgbClr val="1F2D3D"/>
                </a:solidFill>
                <a:latin typeface="Arial"/>
              </a:rPr>
              <a:t>Multer (file upload)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3247" y="1188720"/>
            <a:ext cx="3657600" cy="502920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53247" y="1188720"/>
            <a:ext cx="3657600" cy="548640"/>
          </a:xfrm>
          <a:prstGeom prst="rect">
            <a:avLst/>
          </a:prstGeom>
          <a:solidFill>
            <a:srgbClr val="E685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53247" y="1188720"/>
            <a:ext cx="3657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7567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68510"/>
                </a:solidFill>
                <a:latin typeface="Arial"/>
              </a:rPr>
              <a:t>▸ </a:t>
            </a:r>
            <a:r>
              <a:rPr sz="1300">
                <a:solidFill>
                  <a:srgbClr val="1F2D3D"/>
                </a:solidFill>
                <a:latin typeface="Arial"/>
              </a:rPr>
              <a:t>PostgreSQL 16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E68510"/>
                </a:solidFill>
                <a:latin typeface="Arial"/>
              </a:rPr>
              <a:t>▸ </a:t>
            </a:r>
            <a:r>
              <a:rPr sz="1300">
                <a:solidFill>
                  <a:srgbClr val="1F2D3D"/>
                </a:solidFill>
                <a:latin typeface="Arial"/>
              </a:rPr>
              <a:t>pnpm workspace монорепо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E68510"/>
                </a:solidFill>
                <a:latin typeface="Arial"/>
              </a:rPr>
              <a:t>▸ </a:t>
            </a:r>
            <a:r>
              <a:rPr sz="1300">
                <a:solidFill>
                  <a:srgbClr val="1F2D3D"/>
                </a:solidFill>
                <a:latin typeface="Arial"/>
              </a:rPr>
              <a:t>Docker (зориулан байршуулах)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E68510"/>
                </a:solidFill>
                <a:latin typeface="Arial"/>
              </a:rPr>
              <a:t>▸ </a:t>
            </a:r>
            <a:r>
              <a:rPr sz="1300">
                <a:solidFill>
                  <a:srgbClr val="1F2D3D"/>
                </a:solidFill>
                <a:latin typeface="Arial"/>
              </a:rPr>
              <a:t>Cloudflare Tunnel (демо)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E68510"/>
                </a:solidFill>
                <a:latin typeface="Arial"/>
              </a:rPr>
              <a:t>▸ </a:t>
            </a:r>
            <a:r>
              <a:rPr sz="1300">
                <a:solidFill>
                  <a:srgbClr val="1F2D3D"/>
                </a:solidFill>
                <a:latin typeface="Arial"/>
              </a:rPr>
              <a:t>drizzle-kit (migration)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E68510"/>
                </a:solidFill>
                <a:latin typeface="Arial"/>
              </a:rPr>
              <a:t>▸ </a:t>
            </a:r>
            <a:r>
              <a:rPr sz="1300">
                <a:solidFill>
                  <a:srgbClr val="1F2D3D"/>
                </a:solidFill>
                <a:latin typeface="Arial"/>
              </a:rPr>
              <a:t>k6 (load test)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Рестораны ширээ захиалга, цэс удирдлагын систем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000" b="0">
                <a:solidFill>
                  <a:srgbClr val="6B7685"/>
                </a:solidFill>
                <a:latin typeface="Arial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84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5. Хэрэглэгчдийн төрлүүд (Roles)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5167" y="1097280"/>
            <a:ext cx="5303520" cy="228600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5167" y="1097280"/>
            <a:ext cx="182880" cy="2286000"/>
          </a:xfrm>
          <a:prstGeom prst="rect">
            <a:avLst/>
          </a:prstGeom>
          <a:solidFill>
            <a:srgbClr val="184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0927" y="1188720"/>
            <a:ext cx="73152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200" b="0">
                <a:solidFill>
                  <a:srgbClr val="1F2D3D"/>
                </a:solidFill>
                <a:latin typeface="Arial"/>
              </a:rPr>
              <a:t>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3887" y="1280160"/>
            <a:ext cx="3931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184AC4"/>
                </a:solidFill>
                <a:latin typeface="Arial"/>
              </a:rPr>
              <a:t>Зочин (Guest)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3887" y="173736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84AC4"/>
                </a:solidFill>
                <a:latin typeface="Arial"/>
              </a:rPr>
              <a:t>▸ </a:t>
            </a:r>
            <a:r>
              <a:rPr sz="1100">
                <a:solidFill>
                  <a:srgbClr val="1F2D3D"/>
                </a:solidFill>
                <a:latin typeface="Arial"/>
              </a:rPr>
              <a:t>QR-аар цэс харах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84AC4"/>
                </a:solidFill>
                <a:latin typeface="Arial"/>
              </a:rPr>
              <a:t>▸ </a:t>
            </a:r>
            <a:r>
              <a:rPr sz="1100">
                <a:solidFill>
                  <a:srgbClr val="1F2D3D"/>
                </a:solidFill>
                <a:latin typeface="Arial"/>
              </a:rPr>
              <a:t>Сагсанд хоол нэмэх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84AC4"/>
                </a:solidFill>
                <a:latin typeface="Arial"/>
              </a:rPr>
              <a:t>▸ </a:t>
            </a:r>
            <a:r>
              <a:rPr sz="1100">
                <a:solidFill>
                  <a:srgbClr val="1F2D3D"/>
                </a:solidFill>
                <a:latin typeface="Arial"/>
              </a:rPr>
              <a:t>Захиалга өгөх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84AC4"/>
                </a:solidFill>
                <a:latin typeface="Arial"/>
              </a:rPr>
              <a:t>▸ </a:t>
            </a:r>
            <a:r>
              <a:rPr sz="1100">
                <a:solidFill>
                  <a:srgbClr val="1F2D3D"/>
                </a:solidFill>
                <a:latin typeface="Arial"/>
              </a:rPr>
              <a:t>Захиалгын статус хянах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84AC4"/>
                </a:solidFill>
                <a:latin typeface="Arial"/>
              </a:rPr>
              <a:t>▸ </a:t>
            </a:r>
            <a:r>
              <a:rPr sz="1100">
                <a:solidFill>
                  <a:srgbClr val="1F2D3D"/>
                </a:solidFill>
                <a:latin typeface="Arial"/>
              </a:rPr>
              <a:t>Сэтгэгдэл үлдээх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097280"/>
            <a:ext cx="5303520" cy="228600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33007" y="1097280"/>
            <a:ext cx="182880" cy="2286000"/>
          </a:xfrm>
          <a:prstGeom prst="rect">
            <a:avLst/>
          </a:prstGeom>
          <a:solidFill>
            <a:srgbClr val="10A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98767" y="1188720"/>
            <a:ext cx="73152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200" b="0">
                <a:solidFill>
                  <a:srgbClr val="1F2D3D"/>
                </a:solidFill>
                <a:latin typeface="Arial"/>
              </a:rPr>
              <a:t>🧑‍💼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1727" y="1280160"/>
            <a:ext cx="3931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10A36E"/>
                </a:solidFill>
                <a:latin typeface="Arial"/>
              </a:rPr>
              <a:t>Кассир (Cashier)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1727" y="173736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0A36E"/>
                </a:solidFill>
                <a:latin typeface="Arial"/>
              </a:rPr>
              <a:t>▸ </a:t>
            </a:r>
            <a:r>
              <a:rPr sz="1100">
                <a:solidFill>
                  <a:srgbClr val="1F2D3D"/>
                </a:solidFill>
                <a:latin typeface="Arial"/>
              </a:rPr>
              <a:t>Захиалга баталгаажуулах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0A36E"/>
                </a:solidFill>
                <a:latin typeface="Arial"/>
              </a:rPr>
              <a:t>▸ </a:t>
            </a:r>
            <a:r>
              <a:rPr sz="1100">
                <a:solidFill>
                  <a:srgbClr val="1F2D3D"/>
                </a:solidFill>
                <a:latin typeface="Arial"/>
              </a:rPr>
              <a:t>Статус шинэчлэх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0A36E"/>
                </a:solidFill>
                <a:latin typeface="Arial"/>
              </a:rPr>
              <a:t>▸ </a:t>
            </a:r>
            <a:r>
              <a:rPr sz="1100">
                <a:solidFill>
                  <a:srgbClr val="1F2D3D"/>
                </a:solidFill>
                <a:latin typeface="Arial"/>
              </a:rPr>
              <a:t>Тооцоо хийх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0A36E"/>
                </a:solidFill>
                <a:latin typeface="Arial"/>
              </a:rPr>
              <a:t>▸ </a:t>
            </a:r>
            <a:r>
              <a:rPr sz="1100">
                <a:solidFill>
                  <a:srgbClr val="1F2D3D"/>
                </a:solidFill>
                <a:latin typeface="Arial"/>
              </a:rPr>
              <a:t>Ширээний QR хэвлэх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0A36E"/>
                </a:solidFill>
                <a:latin typeface="Arial"/>
              </a:rPr>
              <a:t>▸ </a:t>
            </a:r>
            <a:r>
              <a:rPr sz="1100">
                <a:solidFill>
                  <a:srgbClr val="1F2D3D"/>
                </a:solidFill>
                <a:latin typeface="Arial"/>
              </a:rPr>
              <a:t>Захиалгын түүх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5167" y="3657600"/>
            <a:ext cx="5303520" cy="228600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5167" y="3657600"/>
            <a:ext cx="182880" cy="2286000"/>
          </a:xfrm>
          <a:prstGeom prst="rect">
            <a:avLst/>
          </a:prstGeom>
          <a:solidFill>
            <a:srgbClr val="E685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0927" y="3749040"/>
            <a:ext cx="73152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200" b="0">
                <a:solidFill>
                  <a:srgbClr val="1F2D3D"/>
                </a:solidFill>
                <a:latin typeface="Arial"/>
              </a:rPr>
              <a:t>👨‍🍳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3887" y="3840480"/>
            <a:ext cx="3931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E68510"/>
                </a:solidFill>
                <a:latin typeface="Arial"/>
              </a:rPr>
              <a:t>Гал тогоо (Kitchen)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43887" y="429768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68510"/>
                </a:solidFill>
                <a:latin typeface="Arial"/>
              </a:rPr>
              <a:t>▸ </a:t>
            </a:r>
            <a:r>
              <a:rPr sz="1100">
                <a:solidFill>
                  <a:srgbClr val="1F2D3D"/>
                </a:solidFill>
                <a:latin typeface="Arial"/>
              </a:rPr>
              <a:t>Бэлдэх дараалал харах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E68510"/>
                </a:solidFill>
                <a:latin typeface="Arial"/>
              </a:rPr>
              <a:t>▸ </a:t>
            </a:r>
            <a:r>
              <a:rPr sz="1100">
                <a:solidFill>
                  <a:srgbClr val="1F2D3D"/>
                </a:solidFill>
                <a:latin typeface="Arial"/>
              </a:rPr>
              <a:t>ready болгох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E68510"/>
                </a:solidFill>
                <a:latin typeface="Arial"/>
              </a:rPr>
              <a:t>▸ </a:t>
            </a:r>
            <a:r>
              <a:rPr sz="1100">
                <a:solidFill>
                  <a:srgbClr val="1F2D3D"/>
                </a:solidFill>
                <a:latin typeface="Arial"/>
              </a:rPr>
              <a:t>Нөөцийн доод хэмжээ мэдэгдэл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3657600"/>
            <a:ext cx="5303520" cy="228600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33007" y="3657600"/>
            <a:ext cx="182880" cy="22860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98767" y="3749040"/>
            <a:ext cx="73152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200" b="0">
                <a:solidFill>
                  <a:srgbClr val="1F2D3D"/>
                </a:solidFill>
                <a:latin typeface="Arial"/>
              </a:rP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1727" y="3840480"/>
            <a:ext cx="3931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6F42C1"/>
                </a:solidFill>
                <a:latin typeface="Arial"/>
              </a:rPr>
              <a:t>Менежер (Manager)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1727" y="429768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F42C1"/>
                </a:solidFill>
                <a:latin typeface="Arial"/>
              </a:rPr>
              <a:t>▸ </a:t>
            </a:r>
            <a:r>
              <a:rPr sz="1100">
                <a:solidFill>
                  <a:srgbClr val="1F2D3D"/>
                </a:solidFill>
                <a:latin typeface="Arial"/>
              </a:rPr>
              <a:t>Цэс/ширээ удирдлага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6F42C1"/>
                </a:solidFill>
                <a:latin typeface="Arial"/>
              </a:rPr>
              <a:t>▸ </a:t>
            </a:r>
            <a:r>
              <a:rPr sz="1100">
                <a:solidFill>
                  <a:srgbClr val="1F2D3D"/>
                </a:solidFill>
                <a:latin typeface="Arial"/>
              </a:rPr>
              <a:t>Ажилтан удирдах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6F42C1"/>
                </a:solidFill>
                <a:latin typeface="Arial"/>
              </a:rPr>
              <a:t>▸ </a:t>
            </a:r>
            <a:r>
              <a:rPr sz="1100">
                <a:solidFill>
                  <a:srgbClr val="1F2D3D"/>
                </a:solidFill>
                <a:latin typeface="Arial"/>
              </a:rPr>
              <a:t>Тайлан, орлого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6F42C1"/>
                </a:solidFill>
                <a:latin typeface="Arial"/>
              </a:rPr>
              <a:t>▸ </a:t>
            </a:r>
            <a:r>
              <a:rPr sz="1100">
                <a:solidFill>
                  <a:srgbClr val="1F2D3D"/>
                </a:solidFill>
                <a:latin typeface="Arial"/>
              </a:rPr>
              <a:t>Сэтгэгдэл уншиж хариулах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6F42C1"/>
                </a:solidFill>
                <a:latin typeface="Arial"/>
              </a:rPr>
              <a:t>▸ </a:t>
            </a:r>
            <a:r>
              <a:rPr sz="1100">
                <a:solidFill>
                  <a:srgbClr val="1F2D3D"/>
                </a:solidFill>
                <a:latin typeface="Arial"/>
              </a:rPr>
              <a:t>Нөөц, банер, тохиргоо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Рестораны ширээ захиалга, цэс удирдлагын систем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000" b="0">
                <a:solidFill>
                  <a:srgbClr val="6B7685"/>
                </a:solidFill>
                <a:latin typeface="Arial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84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6. Хэрэглэгчийн интерфейс — Public Нүүр хуудас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E0E9F7"/>
                </a:solidFill>
                <a:latin typeface="Arial"/>
              </a:rPr>
              <a:t>QR-гүйгээр интернетээс шууд хандах боломжтой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6858000" cy="521208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6858000" cy="36576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48640" y="1188720"/>
            <a:ext cx="182880" cy="18288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60" y="1188720"/>
            <a:ext cx="182880" cy="18288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7280" y="1188720"/>
            <a:ext cx="182880" cy="18288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554480" y="1161288"/>
            <a:ext cx="5029200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45920" y="1143000"/>
            <a:ext cx="493776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🔒 corrected-election-guarantee-terrain.trycloudflare.com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645920"/>
            <a:ext cx="6309360" cy="1828800"/>
          </a:xfrm>
          <a:prstGeom prst="rect">
            <a:avLst/>
          </a:prstGeom>
          <a:solidFill>
            <a:srgbClr val="184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1828800"/>
            <a:ext cx="5943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Тавтай морилно уу 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103120"/>
            <a:ext cx="59436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Mongolia Restaurant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5943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Цэсээ үзэх, ширээ захиалах, сэтгэгдэл үлдээх — нэг дороос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063240"/>
            <a:ext cx="1554480" cy="320040"/>
          </a:xfrm>
          <a:prstGeom prst="roundRect">
            <a:avLst>
              <a:gd name="adj" fmla="val 12000"/>
            </a:avLst>
          </a:prstGeom>
          <a:solidFill>
            <a:srgbClr val="E685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063240"/>
            <a:ext cx="155448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Цэс үзэх 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49040"/>
            <a:ext cx="19812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886200"/>
            <a:ext cx="19812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200" b="0">
                <a:solidFill>
                  <a:srgbClr val="1F2D3D"/>
                </a:solidFill>
                <a:latin typeface="Arial"/>
              </a:rPr>
              <a:t>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89120"/>
            <a:ext cx="1981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Arial"/>
              </a:rPr>
              <a:t>Цэс үзэх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95600" y="3749040"/>
            <a:ext cx="19812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95600" y="3886200"/>
            <a:ext cx="19812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200" b="0">
                <a:solidFill>
                  <a:srgbClr val="1F2D3D"/>
                </a:solidFill>
                <a:latin typeface="Arial"/>
              </a:rPr>
              <a:t>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95600" y="4389120"/>
            <a:ext cx="1981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Arial"/>
              </a:rPr>
              <a:t>Ширээ захиалах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59680" y="3749040"/>
            <a:ext cx="19812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59680" y="3886200"/>
            <a:ext cx="19812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200" b="0">
                <a:solidFill>
                  <a:srgbClr val="1F2D3D"/>
                </a:solidFill>
                <a:latin typeface="Arial"/>
              </a:rPr>
              <a:t>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59680" y="4389120"/>
            <a:ext cx="1981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Arial"/>
              </a:rPr>
              <a:t>Сэтгэгдэл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1371600"/>
            <a:ext cx="40233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>
                <a:solidFill>
                  <a:srgbClr val="184AC4"/>
                </a:solidFill>
                <a:latin typeface="Arial"/>
              </a:rPr>
              <a:t>Гол боломжууд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192024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84AC4"/>
                </a:solidFill>
                <a:latin typeface="Arial"/>
              </a:rPr>
              <a:t>▸ </a:t>
            </a:r>
            <a:r>
              <a:rPr sz="1300">
                <a:solidFill>
                  <a:srgbClr val="1F2D3D"/>
                </a:solidFill>
                <a:latin typeface="Arial"/>
              </a:rPr>
              <a:t>Hero banner + рестораны нэр (settings API)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84AC4"/>
                </a:solidFill>
                <a:latin typeface="Arial"/>
              </a:rPr>
              <a:t>▸ </a:t>
            </a:r>
            <a:r>
              <a:rPr sz="1300">
                <a:solidFill>
                  <a:srgbClr val="1F2D3D"/>
                </a:solidFill>
                <a:latin typeface="Arial"/>
              </a:rPr>
              <a:t>3 том CTA: Цэс / Захиалга / Сэтгэгдэл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84AC4"/>
                </a:solidFill>
                <a:latin typeface="Arial"/>
              </a:rPr>
              <a:t>▸ </a:t>
            </a:r>
            <a:r>
              <a:rPr sz="1300">
                <a:solidFill>
                  <a:srgbClr val="1F2D3D"/>
                </a:solidFill>
                <a:latin typeface="Arial"/>
              </a:rPr>
              <a:t>Хаяг, утас, нээх цаг харагдана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84AC4"/>
                </a:solidFill>
                <a:latin typeface="Arial"/>
              </a:rPr>
              <a:t>▸ </a:t>
            </a:r>
            <a:r>
              <a:rPr sz="1300">
                <a:solidFill>
                  <a:srgbClr val="1F2D3D"/>
                </a:solidFill>
                <a:latin typeface="Arial"/>
              </a:rPr>
              <a:t>QR код шаардлагагүй — хэн ч хандах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84AC4"/>
                </a:solidFill>
                <a:latin typeface="Arial"/>
              </a:rPr>
              <a:t>▸ </a:t>
            </a:r>
            <a:r>
              <a:rPr sz="1300">
                <a:solidFill>
                  <a:srgbClr val="1F2D3D"/>
                </a:solidFill>
                <a:latin typeface="Arial"/>
              </a:rPr>
              <a:t>Wouter routing, Tailwind CSS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84AC4"/>
                </a:solidFill>
                <a:latin typeface="Arial"/>
              </a:rPr>
              <a:t>▸ </a:t>
            </a:r>
            <a:r>
              <a:rPr sz="1300">
                <a:solidFill>
                  <a:srgbClr val="1F2D3D"/>
                </a:solidFill>
                <a:latin typeface="Arial"/>
              </a:rPr>
              <a:t>Mobile-first responsive (320px–1920px)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Рестораны ширээ захиалга, цэс удирдлагын систем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000" b="0">
                <a:solidFill>
                  <a:srgbClr val="6B7685"/>
                </a:solidFill>
                <a:latin typeface="Arial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84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7. Public хуудас — Цэс ба ширээний захиалга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577840" cy="521208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577840" cy="32004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30352" y="1170432"/>
            <a:ext cx="137160" cy="13716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31520" y="1170432"/>
            <a:ext cx="137160" cy="13716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32688" y="1170432"/>
            <a:ext cx="137160" cy="13716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143000"/>
            <a:ext cx="50292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6B7685"/>
                </a:solidFill>
                <a:latin typeface="Arial"/>
              </a:rPr>
              <a:t>/browse — Цэс үзэх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502920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645920"/>
            <a:ext cx="466344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6B7685"/>
                </a:solidFill>
                <a:latin typeface="Arial"/>
              </a:rPr>
              <a:t>🔍 Хоол хайх...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148840"/>
            <a:ext cx="640080" cy="274320"/>
          </a:xfrm>
          <a:prstGeom prst="roundRect">
            <a:avLst>
              <a:gd name="adj" fmla="val 12000"/>
            </a:avLst>
          </a:prstGeom>
          <a:solidFill>
            <a:srgbClr val="184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148840"/>
            <a:ext cx="64008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Бүгд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44752" y="2148840"/>
            <a:ext cx="868680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44752" y="2148840"/>
            <a:ext cx="86868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>
                <a:solidFill>
                  <a:srgbClr val="1F2D3D"/>
                </a:solidFill>
                <a:latin typeface="Arial"/>
              </a:rPr>
              <a:t>Гол хоол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86584" y="2148840"/>
            <a:ext cx="640080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86584" y="2148840"/>
            <a:ext cx="64008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>
                <a:solidFill>
                  <a:srgbClr val="1F2D3D"/>
                </a:solidFill>
                <a:latin typeface="Arial"/>
              </a:rPr>
              <a:t>Шөл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99816" y="2148840"/>
            <a:ext cx="868680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99816" y="2148840"/>
            <a:ext cx="86868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>
                <a:solidFill>
                  <a:srgbClr val="1F2D3D"/>
                </a:solidFill>
                <a:latin typeface="Arial"/>
              </a:rPr>
              <a:t>Салат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41648" y="2148840"/>
            <a:ext cx="868680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41648" y="2148840"/>
            <a:ext cx="86868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>
                <a:solidFill>
                  <a:srgbClr val="1F2D3D"/>
                </a:solidFill>
                <a:latin typeface="Arial"/>
              </a:rPr>
              <a:t>Уух зүйл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651760"/>
            <a:ext cx="242316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2651760"/>
            <a:ext cx="2423160" cy="9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2926080"/>
            <a:ext cx="2423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0">
                <a:solidFill>
                  <a:srgbClr val="1F2D3D"/>
                </a:solidFill>
                <a:latin typeface="Arial"/>
              </a:rPr>
              <a:t>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611880"/>
            <a:ext cx="2148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1F2D3D"/>
                </a:solidFill>
                <a:latin typeface="Arial"/>
              </a:rPr>
              <a:t>Хуушуур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886200"/>
            <a:ext cx="2148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184AC4"/>
                </a:solidFill>
                <a:latin typeface="Arial"/>
              </a:rPr>
              <a:t>5,500₮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7560" y="2651760"/>
            <a:ext cx="242316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337560" y="2651760"/>
            <a:ext cx="2423160" cy="9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37560" y="2926080"/>
            <a:ext cx="2423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0">
                <a:solidFill>
                  <a:srgbClr val="1F2D3D"/>
                </a:solidFill>
                <a:latin typeface="Arial"/>
              </a:rPr>
              <a:t>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3611880"/>
            <a:ext cx="2148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1F2D3D"/>
                </a:solidFill>
                <a:latin typeface="Arial"/>
              </a:rPr>
              <a:t>Бууз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3886200"/>
            <a:ext cx="2148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184AC4"/>
                </a:solidFill>
                <a:latin typeface="Arial"/>
              </a:rPr>
              <a:t>8,000₮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389120"/>
            <a:ext cx="242316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31520" y="4389120"/>
            <a:ext cx="2423160" cy="9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20" y="4663440"/>
            <a:ext cx="2423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0">
                <a:solidFill>
                  <a:srgbClr val="1F2D3D"/>
                </a:solidFill>
                <a:latin typeface="Arial"/>
              </a:rPr>
              <a:t>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349240"/>
            <a:ext cx="2148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1F2D3D"/>
                </a:solidFill>
                <a:latin typeface="Arial"/>
              </a:rPr>
              <a:t>Цуйван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623560"/>
            <a:ext cx="2148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184AC4"/>
                </a:solidFill>
                <a:latin typeface="Arial"/>
              </a:rPr>
              <a:t>12,000₮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37560" y="4389120"/>
            <a:ext cx="242316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337560" y="4389120"/>
            <a:ext cx="2423160" cy="9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337560" y="4663440"/>
            <a:ext cx="2423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0">
                <a:solidFill>
                  <a:srgbClr val="1F2D3D"/>
                </a:solidFill>
                <a:latin typeface="Arial"/>
              </a:rPr>
              <a:t>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5349240"/>
            <a:ext cx="2148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1F2D3D"/>
                </a:solidFill>
                <a:latin typeface="Arial"/>
              </a:rPr>
              <a:t>Бөхлөг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5623560"/>
            <a:ext cx="2148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184AC4"/>
                </a:solidFill>
                <a:latin typeface="Arial"/>
              </a:rPr>
              <a:t>15,000₮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60" y="1097280"/>
            <a:ext cx="5486400" cy="521208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309360" y="1097280"/>
            <a:ext cx="5486400" cy="32004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382512" y="1170432"/>
            <a:ext cx="137160" cy="13716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583680" y="1170432"/>
            <a:ext cx="137160" cy="13716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6784848" y="1170432"/>
            <a:ext cx="137160" cy="13716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66560" y="1143000"/>
            <a:ext cx="493776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6B7685"/>
                </a:solidFill>
                <a:latin typeface="Arial"/>
              </a:rPr>
              <a:t>/reservations — Ширээ захиалах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0" y="1645920"/>
            <a:ext cx="2377440" cy="274320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83680" y="1645920"/>
            <a:ext cx="237744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0">
                <a:solidFill>
                  <a:srgbClr val="E68510"/>
                </a:solidFill>
                <a:latin typeface="Arial"/>
              </a:rPr>
              <a:t>📅 Урьдчилан захиалга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2011680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1F2D3D"/>
                </a:solidFill>
                <a:latin typeface="Arial"/>
              </a:rPr>
              <a:t>Захиалгаа өгөх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2560320"/>
            <a:ext cx="493776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6B7685"/>
                </a:solidFill>
                <a:latin typeface="Arial"/>
              </a:rPr>
              <a:t>Нэр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0" y="2761488"/>
            <a:ext cx="4937760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75120" y="2761488"/>
            <a:ext cx="484632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1F2D3D"/>
                </a:solidFill>
                <a:latin typeface="Arial"/>
              </a:rPr>
              <a:t>Бат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3108960"/>
            <a:ext cx="493776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6B7685"/>
                </a:solidFill>
                <a:latin typeface="Arial"/>
              </a:rPr>
              <a:t>Утас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83680" y="3310128"/>
            <a:ext cx="4937760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675120" y="3310128"/>
            <a:ext cx="484632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1F2D3D"/>
                </a:solidFill>
                <a:latin typeface="Arial"/>
              </a:rPr>
              <a:t>9999-1234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0" y="3657600"/>
            <a:ext cx="493776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6B7685"/>
                </a:solidFill>
                <a:latin typeface="Arial"/>
              </a:rPr>
              <a:t>Хүний тоо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83680" y="3858768"/>
            <a:ext cx="4937760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675120" y="3858768"/>
            <a:ext cx="484632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1F2D3D"/>
                </a:solidFill>
                <a:latin typeface="Arial"/>
              </a:rPr>
              <a:t>4 хүн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0" y="4206240"/>
            <a:ext cx="493776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6B7685"/>
                </a:solidFill>
                <a:latin typeface="Arial"/>
              </a:rPr>
              <a:t>Огноо ба цаг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583680" y="4407408"/>
            <a:ext cx="4937760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675120" y="4407408"/>
            <a:ext cx="484632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1F2D3D"/>
                </a:solidFill>
                <a:latin typeface="Arial"/>
              </a:rPr>
              <a:t>2026-05-10  19:00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0" y="4754880"/>
            <a:ext cx="493776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6B7685"/>
                </a:solidFill>
                <a:latin typeface="Arial"/>
              </a:rPr>
              <a:t>Тэмдэглэл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583680" y="4956048"/>
            <a:ext cx="4937760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675120" y="4956048"/>
            <a:ext cx="484632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1F2D3D"/>
                </a:solidFill>
                <a:latin typeface="Arial"/>
              </a:rPr>
              <a:t>Цонхны дэргэд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583680" y="5303520"/>
            <a:ext cx="4937760" cy="365760"/>
          </a:xfrm>
          <a:prstGeom prst="roundRect">
            <a:avLst>
              <a:gd name="adj" fmla="val 12000"/>
            </a:avLst>
          </a:prstGeom>
          <a:solidFill>
            <a:srgbClr val="184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583680" y="530352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Захиалга илгээх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Рестораны ширээ захиалга, цэс удирдлагын систем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000" b="0">
                <a:solidFill>
                  <a:srgbClr val="6B7685"/>
                </a:solidFill>
                <a:latin typeface="Arial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84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8. Public хуудас — Сэтгэгдэл (Reviews)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E0E9F7"/>
                </a:solidFill>
                <a:latin typeface="Arial"/>
              </a:rPr>
              <a:t>Дундаж үнэлгээ, түгээлт, шинэ сэтгэгдэл бичих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486400" cy="521208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200" b="1">
                <a:solidFill>
                  <a:srgbClr val="1F2D3D"/>
                </a:solidFill>
                <a:latin typeface="Arial"/>
              </a:rPr>
              <a:t>Зочдын үнэлгээ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548640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7200" b="0">
                <a:solidFill>
                  <a:srgbClr val="E68510"/>
                </a:solidFill>
                <a:latin typeface="Arial"/>
              </a:rPr>
              <a:t>⭐⭐⭐⭐⭐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54864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4200" b="1">
                <a:solidFill>
                  <a:srgbClr val="184AC4"/>
                </a:solidFill>
                <a:latin typeface="Arial"/>
              </a:rPr>
              <a:t>4.8 / 5.0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0">
                <a:solidFill>
                  <a:srgbClr val="6B7685"/>
                </a:solidFill>
                <a:latin typeface="Arial"/>
              </a:rPr>
              <a:t>84 сэтгэгдэл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46319"/>
            <a:ext cx="36576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Arial"/>
              </a:rPr>
              <a:t>5★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910327"/>
            <a:ext cx="3474720" cy="1645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371600" y="4910327"/>
            <a:ext cx="2501798" cy="164592"/>
          </a:xfrm>
          <a:prstGeom prst="roundRect">
            <a:avLst>
              <a:gd name="adj" fmla="val 12000"/>
            </a:avLst>
          </a:prstGeom>
          <a:solidFill>
            <a:srgbClr val="E685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0640" y="4846319"/>
            <a:ext cx="54864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100" b="0">
                <a:solidFill>
                  <a:srgbClr val="6B7685"/>
                </a:solidFill>
                <a:latin typeface="Arial"/>
              </a:rPr>
              <a:t>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02351"/>
            <a:ext cx="36576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Arial"/>
              </a:rPr>
              <a:t>4★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5166359"/>
            <a:ext cx="3474720" cy="1645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371600" y="5166359"/>
            <a:ext cx="729691" cy="164592"/>
          </a:xfrm>
          <a:prstGeom prst="roundRect">
            <a:avLst>
              <a:gd name="adj" fmla="val 12000"/>
            </a:avLst>
          </a:prstGeom>
          <a:solidFill>
            <a:srgbClr val="E685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0" y="5102351"/>
            <a:ext cx="54864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100" b="0">
                <a:solidFill>
                  <a:srgbClr val="6B7685"/>
                </a:solidFill>
                <a:latin typeface="Arial"/>
              </a:rPr>
              <a:t>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58383"/>
            <a:ext cx="36576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Arial"/>
              </a:rPr>
              <a:t>3★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5422391"/>
            <a:ext cx="3474720" cy="1645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371600" y="5422391"/>
            <a:ext cx="173736" cy="164592"/>
          </a:xfrm>
          <a:prstGeom prst="roundRect">
            <a:avLst>
              <a:gd name="adj" fmla="val 12000"/>
            </a:avLst>
          </a:prstGeom>
          <a:solidFill>
            <a:srgbClr val="E685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0" y="5358383"/>
            <a:ext cx="54864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100" b="0">
                <a:solidFill>
                  <a:srgbClr val="6B7685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14415"/>
            <a:ext cx="36576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Arial"/>
              </a:rPr>
              <a:t>2★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5678423"/>
            <a:ext cx="3474720" cy="1645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371600" y="5678423"/>
            <a:ext cx="34747" cy="164592"/>
          </a:xfrm>
          <a:prstGeom prst="roundRect">
            <a:avLst>
              <a:gd name="adj" fmla="val 12000"/>
            </a:avLst>
          </a:prstGeom>
          <a:solidFill>
            <a:srgbClr val="E685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20640" y="5614415"/>
            <a:ext cx="54864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100" b="0">
                <a:solidFill>
                  <a:srgbClr val="6B7685"/>
                </a:solidFill>
                <a:latin typeface="Arial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870447"/>
            <a:ext cx="36576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Arial"/>
              </a:rPr>
              <a:t>1★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71600" y="5934455"/>
            <a:ext cx="3474720" cy="1645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371600" y="5934455"/>
            <a:ext cx="34747" cy="164592"/>
          </a:xfrm>
          <a:prstGeom prst="roundRect">
            <a:avLst>
              <a:gd name="adj" fmla="val 12000"/>
            </a:avLst>
          </a:prstGeom>
          <a:solidFill>
            <a:srgbClr val="E685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20640" y="5870447"/>
            <a:ext cx="54864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100" b="0">
                <a:solidFill>
                  <a:srgbClr val="6B7685"/>
                </a:solidFill>
                <a:latin typeface="Arial"/>
              </a:rPr>
              <a:t>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1097280"/>
            <a:ext cx="5486400" cy="521208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0" y="128016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84AC4"/>
                </a:solidFill>
                <a:latin typeface="Arial"/>
              </a:rPr>
              <a:t>💬 Сүүлийн сэтгэгдэл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1737360"/>
            <a:ext cx="49377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75120" y="1810512"/>
            <a:ext cx="4754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E68510"/>
                </a:solidFill>
                <a:latin typeface="Arial"/>
              </a:rPr>
              <a:t>⭐⭐⭐⭐⭐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2029968"/>
            <a:ext cx="4754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1F2D3D"/>
                </a:solidFill>
                <a:latin typeface="Arial"/>
              </a:rPr>
              <a:t>Бат-Эрдэнэ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2240280"/>
            <a:ext cx="4754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6B7685"/>
                </a:solidFill>
                <a:latin typeface="Arial"/>
              </a:rPr>
              <a:t>"Гайхалтай үйлчилгээ! Хоол маш амттай."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2697480"/>
            <a:ext cx="49377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75120" y="2770632"/>
            <a:ext cx="4754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E68510"/>
                </a:solidFill>
                <a:latin typeface="Arial"/>
              </a:rPr>
              <a:t>⭐⭐⭐⭐⭐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2990088"/>
            <a:ext cx="4754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1F2D3D"/>
                </a:solidFill>
                <a:latin typeface="Arial"/>
              </a:rPr>
              <a:t>Сараа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3200400"/>
            <a:ext cx="4754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6B7685"/>
                </a:solidFill>
                <a:latin typeface="Arial"/>
              </a:rPr>
              <a:t>"QR кодоор захиалга хийсэн нь маш хурдан, хялбар."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0" y="3657600"/>
            <a:ext cx="49377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75120" y="3730752"/>
            <a:ext cx="4754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E68510"/>
                </a:solidFill>
                <a:latin typeface="Arial"/>
              </a:rPr>
              <a:t>⭐⭐⭐⭐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3950208"/>
            <a:ext cx="4754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1F2D3D"/>
                </a:solidFill>
                <a:latin typeface="Arial"/>
              </a:rPr>
              <a:t>Мөнхбат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4160520"/>
            <a:ext cx="4754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6B7685"/>
                </a:solidFill>
                <a:latin typeface="Arial"/>
              </a:rPr>
              <a:t>"Ширээ урьдчилан захиалсан нь маш тохиромжтой."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0" y="4617720"/>
            <a:ext cx="4937760" cy="1097280"/>
          </a:xfrm>
          <a:prstGeom prst="roundRect">
            <a:avLst>
              <a:gd name="adj" fmla="val 12000"/>
            </a:avLst>
          </a:prstGeom>
          <a:solidFill>
            <a:srgbClr val="184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766560" y="480060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✏  Сэтгэгдэл үлдээх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07492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Үнэлгээ:  ⭐⭐⭐⭐⭐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766560" y="5394960"/>
            <a:ext cx="1371600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766560" y="539496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184AC4"/>
                </a:solidFill>
                <a:latin typeface="Arial"/>
              </a:rPr>
              <a:t>Илгээх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Рестораны ширээ захиалга, цэс удирдлагын систем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000" b="0">
                <a:solidFill>
                  <a:srgbClr val="6B7685"/>
                </a:solidFill>
                <a:latin typeface="Arial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84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9. Зочны мобайл цэс (QR-аар нэвтэрсэн зочин)</a:t>
            </a:r>
          </a:p>
        </p:txBody>
      </p:sp>
      <p:pic>
        <p:nvPicPr>
          <p:cNvPr id="4" name="Picture 3" descr="guest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2450967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1188720"/>
            <a:ext cx="5943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184AC4"/>
                </a:solidFill>
                <a:latin typeface="Arial"/>
              </a:rPr>
              <a:t>Гол элементүүд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8288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84AC4"/>
                </a:solidFill>
                <a:latin typeface="Arial"/>
              </a:rPr>
              <a:t>▸ </a:t>
            </a:r>
            <a:r>
              <a:rPr sz="1400">
                <a:solidFill>
                  <a:srgbClr val="1F2D3D"/>
                </a:solidFill>
                <a:latin typeface="Arial"/>
              </a:rPr>
              <a:t>Толгой: рестораны нэр + ширээний дугаар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84AC4"/>
                </a:solidFill>
                <a:latin typeface="Arial"/>
              </a:rPr>
              <a:t>▸ </a:t>
            </a:r>
            <a:r>
              <a:rPr sz="1400">
                <a:solidFill>
                  <a:srgbClr val="1F2D3D"/>
                </a:solidFill>
                <a:latin typeface="Arial"/>
              </a:rPr>
              <a:t>Ангиллын таб (горизонтал scroll)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84AC4"/>
                </a:solidFill>
                <a:latin typeface="Arial"/>
              </a:rPr>
              <a:t>▸ </a:t>
            </a:r>
            <a:r>
              <a:rPr sz="1400">
                <a:solidFill>
                  <a:srgbClr val="1F2D3D"/>
                </a:solidFill>
                <a:latin typeface="Arial"/>
              </a:rPr>
              <a:t>Хоолны карт: зураг, нэр, тайлбар, үнэ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84AC4"/>
                </a:solidFill>
                <a:latin typeface="Arial"/>
              </a:rPr>
              <a:t>▸ </a:t>
            </a:r>
            <a:r>
              <a:rPr sz="1400">
                <a:solidFill>
                  <a:srgbClr val="1F2D3D"/>
                </a:solidFill>
                <a:latin typeface="Arial"/>
              </a:rPr>
              <a:t>Сагсанд нэмэх товч (бодит цагт сагс шинэчлэгдэнэ)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84AC4"/>
                </a:solidFill>
                <a:latin typeface="Arial"/>
              </a:rPr>
              <a:t>▸ </a:t>
            </a:r>
            <a:r>
              <a:rPr sz="1400">
                <a:solidFill>
                  <a:srgbClr val="1F2D3D"/>
                </a:solidFill>
                <a:latin typeface="Arial"/>
              </a:rPr>
              <a:t>Сагсны badge (онцлох тоо)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84AC4"/>
                </a:solidFill>
                <a:latin typeface="Arial"/>
              </a:rPr>
              <a:t>▸ </a:t>
            </a:r>
            <a:r>
              <a:rPr sz="1400">
                <a:solidFill>
                  <a:srgbClr val="1F2D3D"/>
                </a:solidFill>
                <a:latin typeface="Arial"/>
              </a:rPr>
              <a:t>Олон төхөөрөмжид нэг сагс синхрончлогдоно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5212080"/>
            <a:ext cx="5943600" cy="109728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0" y="530352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Arial"/>
              </a:rPr>
              <a:t>Технологи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5623560"/>
            <a:ext cx="5486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6B7685"/>
                </a:solidFill>
                <a:latin typeface="Arial"/>
              </a:rPr>
              <a:t>React 18 + TanStack Query + Tailwind</a:t>
            </a:r>
          </a:p>
          <a:p>
            <a:pPr algn="l"/>
            <a:r>
              <a:rPr sz="1100" b="0">
                <a:solidFill>
                  <a:srgbClr val="6B7685"/>
                </a:solidFill>
                <a:latin typeface="Arial"/>
              </a:rPr>
              <a:t>Socket.IO room: session_&lt;qrToken&gt;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Рестораны ширээ захиалга, цэс удирдлагын систем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000" b="0">
                <a:solidFill>
                  <a:srgbClr val="6B7685"/>
                </a:solidFill>
                <a:latin typeface="Arial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84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10. Сагс ба захиалга өгөх (хамтын сагс)</a:t>
            </a:r>
          </a:p>
        </p:txBody>
      </p:sp>
      <p:pic>
        <p:nvPicPr>
          <p:cNvPr id="4" name="Picture 3" descr="guest-c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2450967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1188720"/>
            <a:ext cx="5943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184AC4"/>
                </a:solidFill>
                <a:latin typeface="Arial"/>
              </a:rPr>
              <a:t>Хамтын сагс (Shared Cart)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737360"/>
            <a:ext cx="59436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Arial"/>
              </a:rPr>
              <a:t>Нэг ширээний 4 зочин тус тусдаа утаснаасаа сагсыг хамтран бүрдүүлж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Arial"/>
              </a:rPr>
              <a:t>чадна. Сервер тал дээр shared_cart_items хүснэгтэд хадгалагдаж,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Arial"/>
              </a:rPr>
              <a:t>Socket.IO-аар real-time синхрончлогдоно.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3017520"/>
            <a:ext cx="5943600" cy="50292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0" y="3017520"/>
            <a:ext cx="22860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184AC4"/>
                </a:solidFill>
                <a:latin typeface="Arial"/>
              </a:rPr>
              <a:t>📱 А зочин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3017520"/>
            <a:ext cx="32918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Arial"/>
              </a:rPr>
              <a:t>+ Хуушуур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3657600"/>
            <a:ext cx="5943600" cy="50292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3657600"/>
            <a:ext cx="22860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184AC4"/>
                </a:solidFill>
                <a:latin typeface="Arial"/>
              </a:rPr>
              <a:t>🌐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657600"/>
            <a:ext cx="32918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Arial"/>
              </a:rPr>
              <a:t>INSERT shared_cart_items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4297680"/>
            <a:ext cx="5943600" cy="50292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22860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184AC4"/>
                </a:solidFill>
                <a:latin typeface="Arial"/>
              </a:rPr>
              <a:t>📡 Socket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297680"/>
            <a:ext cx="32918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Arial"/>
              </a:rPr>
              <a:t>cart:updated → session room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4937760"/>
            <a:ext cx="5943600" cy="50292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0" y="4937760"/>
            <a:ext cx="22860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184AC4"/>
                </a:solidFill>
                <a:latin typeface="Arial"/>
              </a:rPr>
              <a:t>📱 Б, В, Г зочдын дэлгэц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937760"/>
            <a:ext cx="32918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Arial"/>
              </a:rPr>
              <a:t>сагс шууд шинэчлэгдэнэ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Рестораны ширээ захиалга, цэс удирдлагын систем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000" b="0">
                <a:solidFill>
                  <a:srgbClr val="6B7685"/>
                </a:solidFill>
                <a:latin typeface="Arial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84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11. Захиалгын статус хянах</a:t>
            </a:r>
          </a:p>
        </p:txBody>
      </p:sp>
      <p:pic>
        <p:nvPicPr>
          <p:cNvPr id="4" name="Picture 3" descr="guest-order-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020992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1188720"/>
            <a:ext cx="5943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184AC4"/>
                </a:solidFill>
                <a:latin typeface="Arial"/>
              </a:rPr>
              <a:t>Бодит цагт хянах timeline</a:t>
            </a:r>
          </a:p>
        </p:txBody>
      </p:sp>
      <p:sp>
        <p:nvSpPr>
          <p:cNvPr id="6" name="Oval 5"/>
          <p:cNvSpPr/>
          <p:nvPr/>
        </p:nvSpPr>
        <p:spPr>
          <a:xfrm>
            <a:off x="5943600" y="1874520"/>
            <a:ext cx="320040" cy="320040"/>
          </a:xfrm>
          <a:prstGeom prst="ellipse">
            <a:avLst/>
          </a:prstGeom>
          <a:solidFill>
            <a:srgbClr val="184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85332" y="2194560"/>
            <a:ext cx="36576" cy="274320"/>
          </a:xfrm>
          <a:prstGeom prst="rect">
            <a:avLst/>
          </a:prstGeom>
          <a:solidFill>
            <a:srgbClr val="184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184AC4"/>
                </a:solidFill>
                <a:latin typeface="Arial"/>
              </a:rPr>
              <a:t>pending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82880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Arial"/>
              </a:rPr>
              <a:t>Хүлээгдэж байна</a:t>
            </a:r>
          </a:p>
        </p:txBody>
      </p:sp>
      <p:sp>
        <p:nvSpPr>
          <p:cNvPr id="10" name="Oval 9"/>
          <p:cNvSpPr/>
          <p:nvPr/>
        </p:nvSpPr>
        <p:spPr>
          <a:xfrm>
            <a:off x="5943600" y="2468880"/>
            <a:ext cx="320040" cy="320040"/>
          </a:xfrm>
          <a:prstGeom prst="ellipse">
            <a:avLst/>
          </a:prstGeom>
          <a:solidFill>
            <a:srgbClr val="184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85332" y="2788920"/>
            <a:ext cx="36576" cy="274320"/>
          </a:xfrm>
          <a:prstGeom prst="rect">
            <a:avLst/>
          </a:prstGeom>
          <a:solidFill>
            <a:srgbClr val="184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2423160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184AC4"/>
                </a:solidFill>
                <a:latin typeface="Arial"/>
              </a:rPr>
              <a:t>confirmed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42316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Arial"/>
              </a:rPr>
              <a:t>Баталгаажсан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0" y="3063240"/>
            <a:ext cx="320040" cy="320040"/>
          </a:xfrm>
          <a:prstGeom prst="ellipse">
            <a:avLst/>
          </a:prstGeom>
          <a:solidFill>
            <a:srgbClr val="E68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85332" y="3383280"/>
            <a:ext cx="36576" cy="274320"/>
          </a:xfrm>
          <a:prstGeom prst="rect">
            <a:avLst/>
          </a:prstGeom>
          <a:solidFill>
            <a:srgbClr val="E685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3017520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E68510"/>
                </a:solidFill>
                <a:latin typeface="Arial"/>
              </a:rPr>
              <a:t>preparing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01752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Arial"/>
              </a:rPr>
              <a:t>Бэлтгэгдэж байна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0" y="3657600"/>
            <a:ext cx="320040" cy="320040"/>
          </a:xfrm>
          <a:prstGeom prst="ellipse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85332" y="3977640"/>
            <a:ext cx="36576" cy="27432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3611880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6B7685"/>
                </a:solidFill>
                <a:latin typeface="Arial"/>
              </a:rPr>
              <a:t>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61188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6B7685"/>
                </a:solidFill>
                <a:latin typeface="Arial"/>
              </a:rPr>
              <a:t>Бэлэн</a:t>
            </a:r>
          </a:p>
        </p:txBody>
      </p:sp>
      <p:sp>
        <p:nvSpPr>
          <p:cNvPr id="22" name="Oval 21"/>
          <p:cNvSpPr/>
          <p:nvPr/>
        </p:nvSpPr>
        <p:spPr>
          <a:xfrm>
            <a:off x="5943600" y="4251960"/>
            <a:ext cx="320040" cy="320040"/>
          </a:xfrm>
          <a:prstGeom prst="ellipse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85332" y="4572000"/>
            <a:ext cx="36576" cy="27432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4206240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6B7685"/>
                </a:solidFill>
                <a:latin typeface="Arial"/>
              </a:rPr>
              <a:t>served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20624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6B7685"/>
                </a:solidFill>
                <a:latin typeface="Arial"/>
              </a:rPr>
              <a:t>Хүргэгдсэн</a:t>
            </a:r>
          </a:p>
        </p:txBody>
      </p:sp>
      <p:sp>
        <p:nvSpPr>
          <p:cNvPr id="26" name="Oval 25"/>
          <p:cNvSpPr/>
          <p:nvPr/>
        </p:nvSpPr>
        <p:spPr>
          <a:xfrm>
            <a:off x="5943600" y="4846320"/>
            <a:ext cx="320040" cy="320040"/>
          </a:xfrm>
          <a:prstGeom prst="ellipse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4800600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6B7685"/>
                </a:solidFill>
                <a:latin typeface="Arial"/>
              </a:rPr>
              <a:t>paid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80060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6B7685"/>
                </a:solidFill>
                <a:latin typeface="Arial"/>
              </a:rPr>
              <a:t>Төлөгдсөн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Рестораны ширээ захиалга, цэс удирдлагын систем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000" b="0">
                <a:solidFill>
                  <a:srgbClr val="6B7685"/>
                </a:solidFill>
                <a:latin typeface="Arial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84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12. Use case — Зочны бүрэн урсгал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2559" y="1097280"/>
            <a:ext cx="2743200" cy="246888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2559" y="1097280"/>
            <a:ext cx="457200" cy="2468880"/>
          </a:xfrm>
          <a:prstGeom prst="rect">
            <a:avLst/>
          </a:prstGeom>
          <a:solidFill>
            <a:srgbClr val="184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2559" y="1371600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1199" y="1234440"/>
            <a:ext cx="2103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0">
                <a:solidFill>
                  <a:srgbClr val="1F2D3D"/>
                </a:solidFill>
                <a:latin typeface="Arial"/>
              </a:rPr>
              <a:t>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199" y="1874520"/>
            <a:ext cx="2103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Arial"/>
              </a:rPr>
              <a:t>QR скан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1199" y="2286000"/>
            <a:ext cx="210312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Зочин ширээний QR-ыг скан хийж</a:t>
            </a:r>
          </a:p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цэсийн хуудас нээгдэнэ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0351" y="1097280"/>
            <a:ext cx="2743200" cy="246888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70351" y="1097280"/>
            <a:ext cx="457200" cy="2468880"/>
          </a:xfrm>
          <a:prstGeom prst="rect">
            <a:avLst/>
          </a:prstGeom>
          <a:solidFill>
            <a:srgbClr val="184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70351" y="1371600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8991" y="1234440"/>
            <a:ext cx="2103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0">
                <a:solidFill>
                  <a:srgbClr val="1F2D3D"/>
                </a:solidFill>
                <a:latin typeface="Arial"/>
              </a:rPr>
              <a:t>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8991" y="1874520"/>
            <a:ext cx="2103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Arial"/>
              </a:rPr>
              <a:t>Check-in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8991" y="2286000"/>
            <a:ext cx="210312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"Ширээнд сууж байна" товч →</a:t>
            </a:r>
          </a:p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Server session JWT олгоно (8 цаг)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1097280"/>
            <a:ext cx="2743200" cy="246888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8143" y="1097280"/>
            <a:ext cx="457200" cy="2468880"/>
          </a:xfrm>
          <a:prstGeom prst="rect">
            <a:avLst/>
          </a:prstGeom>
          <a:solidFill>
            <a:srgbClr val="184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78143" y="1371600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6783" y="1234440"/>
            <a:ext cx="2103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0">
                <a:solidFill>
                  <a:srgbClr val="1F2D3D"/>
                </a:solidFill>
                <a:latin typeface="Arial"/>
              </a:rPr>
              <a:t>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6783" y="1874520"/>
            <a:ext cx="2103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Arial"/>
              </a:rPr>
              <a:t>Цэс үзэх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6783" y="2286000"/>
            <a:ext cx="210312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Ангилал шилжих, хайх, хоолны</a:t>
            </a:r>
          </a:p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дэлгэрэнгүй зураг харах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5935" y="1097280"/>
            <a:ext cx="2743200" cy="246888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85935" y="1097280"/>
            <a:ext cx="457200" cy="2468880"/>
          </a:xfrm>
          <a:prstGeom prst="rect">
            <a:avLst/>
          </a:prstGeom>
          <a:solidFill>
            <a:srgbClr val="184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85935" y="1371600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34575" y="1234440"/>
            <a:ext cx="2103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0">
                <a:solidFill>
                  <a:srgbClr val="1F2D3D"/>
                </a:solidFill>
                <a:latin typeface="Arial"/>
              </a:rPr>
              <a:t>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34575" y="1874520"/>
            <a:ext cx="2103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Arial"/>
              </a:rPr>
              <a:t>Сагсанд нэмэх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34575" y="2286000"/>
            <a:ext cx="210312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Бодит цагт хамтын сагсанд нэмэгдэх</a:t>
            </a:r>
          </a:p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(олон төхөөрөмж синхрон)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2559" y="3730752"/>
            <a:ext cx="2743200" cy="246888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2559" y="3730752"/>
            <a:ext cx="457200" cy="2468880"/>
          </a:xfrm>
          <a:prstGeom prst="rect">
            <a:avLst/>
          </a:prstGeom>
          <a:solidFill>
            <a:srgbClr val="10A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2559" y="4005072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199" y="3867912"/>
            <a:ext cx="2103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0">
                <a:solidFill>
                  <a:srgbClr val="1F2D3D"/>
                </a:solidFill>
                <a:latin typeface="Arial"/>
              </a:rPr>
              <a:t>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199" y="4507992"/>
            <a:ext cx="2103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Arial"/>
              </a:rPr>
              <a:t>Захиалга өгөх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199" y="4919472"/>
            <a:ext cx="210312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POST /api/orders</a:t>
            </a:r>
          </a:p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Кассирт notification очино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70351" y="3730752"/>
            <a:ext cx="2743200" cy="246888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70351" y="3730752"/>
            <a:ext cx="457200" cy="2468880"/>
          </a:xfrm>
          <a:prstGeom prst="rect">
            <a:avLst/>
          </a:prstGeom>
          <a:solidFill>
            <a:srgbClr val="10A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70351" y="4005072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18991" y="3867912"/>
            <a:ext cx="2103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0">
                <a:solidFill>
                  <a:srgbClr val="1F2D3D"/>
                </a:solidFill>
                <a:latin typeface="Arial"/>
              </a:rPr>
              <a:t>👨‍🍳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18991" y="4507992"/>
            <a:ext cx="2103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Arial"/>
              </a:rPr>
              <a:t>Бэлтгэж байна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18991" y="4919472"/>
            <a:ext cx="210312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Кассир баталгаажуулах →</a:t>
            </a:r>
          </a:p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Гал тогоо preparing → ready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8143" y="3730752"/>
            <a:ext cx="2743200" cy="246888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78143" y="3730752"/>
            <a:ext cx="457200" cy="2468880"/>
          </a:xfrm>
          <a:prstGeom prst="rect">
            <a:avLst/>
          </a:prstGeom>
          <a:solidFill>
            <a:srgbClr val="10A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78143" y="4005072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6783" y="3867912"/>
            <a:ext cx="2103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0">
                <a:solidFill>
                  <a:srgbClr val="1F2D3D"/>
                </a:solidFill>
                <a:latin typeface="Arial"/>
              </a:rPr>
              <a:t>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6783" y="4507992"/>
            <a:ext cx="2103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Arial"/>
              </a:rPr>
              <a:t>Хүлээн авах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6783" y="4919472"/>
            <a:ext cx="210312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Кассир served гэж тэмдэглэх,</a:t>
            </a:r>
          </a:p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status timeline шинэчлэгдэнэ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85935" y="3730752"/>
            <a:ext cx="2743200" cy="246888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085935" y="3730752"/>
            <a:ext cx="457200" cy="2468880"/>
          </a:xfrm>
          <a:prstGeom prst="rect">
            <a:avLst/>
          </a:prstGeom>
          <a:solidFill>
            <a:srgbClr val="10A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085935" y="4005072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34575" y="3867912"/>
            <a:ext cx="2103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0">
                <a:solidFill>
                  <a:srgbClr val="1F2D3D"/>
                </a:solidFill>
                <a:latin typeface="Arial"/>
              </a:rPr>
              <a:t>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34575" y="4507992"/>
            <a:ext cx="2103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Arial"/>
              </a:rPr>
              <a:t>Тооцоо + Сэтгэгдэл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34575" y="4919472"/>
            <a:ext cx="210312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paid → session хаагдах →</a:t>
            </a:r>
          </a:p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Зочин сэтгэгдэл үлдээх боломж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Рестораны ширээ захиалга, цэс удирдлагын систем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000" b="0">
                <a:solidFill>
                  <a:srgbClr val="6B7685"/>
                </a:solidFill>
                <a:latin typeface="Arial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84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13. QR архитектурын шинэчлэлт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E0E9F7"/>
                </a:solidFill>
                <a:latin typeface="Arial"/>
              </a:rPr>
              <a:t>Stable identity + Ephemeral session JWT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486400" cy="5212080"/>
          </a:xfrm>
          <a:prstGeom prst="roundRect">
            <a:avLst>
              <a:gd name="adj" fmla="val 12000"/>
            </a:avLst>
          </a:prstGeom>
          <a:solidFill>
            <a:srgbClr val="FD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486400" cy="548640"/>
          </a:xfrm>
          <a:prstGeom prst="rect">
            <a:avLst/>
          </a:prstGeom>
          <a:solidFill>
            <a:srgbClr val="D33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4864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❌ Хуучин загвар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D33636"/>
                </a:solidFill>
                <a:latin typeface="Arial"/>
              </a:rPr>
              <a:t>qr_token = identity +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D33636"/>
                </a:solidFill>
                <a:latin typeface="Arial"/>
              </a:rPr>
              <a:t>▸ </a:t>
            </a:r>
            <a:r>
              <a:rPr sz="1300">
                <a:solidFill>
                  <a:srgbClr val="1F2D3D"/>
                </a:solidFill>
                <a:latin typeface="Arial"/>
              </a:rPr>
              <a:t>Зочин session дуусах бүрд QR rotate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D33636"/>
                </a:solidFill>
                <a:latin typeface="Arial"/>
              </a:rPr>
              <a:t>▸ </a:t>
            </a:r>
            <a:r>
              <a:rPr sz="1300">
                <a:solidFill>
                  <a:srgbClr val="1F2D3D"/>
                </a:solidFill>
                <a:latin typeface="Arial"/>
              </a:rPr>
              <a:t>Цаасан QR-ыг тогтмол дахин хэвлэх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D33636"/>
                </a:solidFill>
                <a:latin typeface="Arial"/>
              </a:rPr>
              <a:t>▸ </a:t>
            </a:r>
            <a:r>
              <a:rPr sz="1300">
                <a:solidFill>
                  <a:srgbClr val="1F2D3D"/>
                </a:solidFill>
                <a:latin typeface="Arial"/>
              </a:rPr>
              <a:t>Нэг ширээнд зөвхөн 1 customer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D33636"/>
                </a:solidFill>
                <a:latin typeface="Arial"/>
              </a:rPr>
              <a:t>▸ </a:t>
            </a:r>
            <a:r>
              <a:rPr sz="1300">
                <a:solidFill>
                  <a:srgbClr val="1F2D3D"/>
                </a:solidFill>
                <a:latin typeface="Arial"/>
              </a:rPr>
              <a:t>Сагс зөвхөн нэг утсанд хадгалагдана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D33636"/>
                </a:solidFill>
                <a:latin typeface="Arial"/>
              </a:rPr>
              <a:t>▸ </a:t>
            </a:r>
            <a:r>
              <a:rPr sz="1300">
                <a:solidFill>
                  <a:srgbClr val="1F2D3D"/>
                </a:solidFill>
                <a:latin typeface="Arial"/>
              </a:rPr>
              <a:t>QR-гүйгээр цэс үзэх боломжгүй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97280"/>
            <a:ext cx="5486400" cy="5212080"/>
          </a:xfrm>
          <a:prstGeom prst="roundRect">
            <a:avLst>
              <a:gd name="adj" fmla="val 12000"/>
            </a:avLst>
          </a:prstGeom>
          <a:solidFill>
            <a:srgbClr val="DC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5486400" cy="548640"/>
          </a:xfrm>
          <a:prstGeom prst="rect">
            <a:avLst/>
          </a:prstGeom>
          <a:solidFill>
            <a:srgbClr val="10A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097280"/>
            <a:ext cx="54864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✅ Шинэ загвар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10A36E"/>
                </a:solidFill>
                <a:latin typeface="Arial"/>
              </a:rPr>
              <a:t>Stable QR (identity)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194560"/>
            <a:ext cx="4754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Arial"/>
              </a:rPr>
              <a:t>tables.qr_token — UUID, нэг удаа үүсгэж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Arial"/>
              </a:rPr>
              <a:t>цаасанд хэвлэгдэнэ, rotate ХИЙГДЭХГҮЙ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2608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10A36E"/>
                </a:solidFill>
                <a:latin typeface="Arial"/>
              </a:rPr>
              <a:t>Session JWT (security)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291840"/>
            <a:ext cx="47548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Arial"/>
              </a:rPr>
              <a:t>JWT HS256 · 8 цаг expiry · localStorage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Arial"/>
              </a:rPr>
              <a:t>payload: {sid, tid, cid}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Arial"/>
              </a:rPr>
              <a:t>Хаагдсан session-ы JWT автомат хүчингүй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48056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10A36E"/>
                </a:solidFill>
                <a:latin typeface="Arial"/>
              </a:rPr>
              <a:t>🛡 Photo-QR довтолгооноос хамгаалалт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846319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0A36E"/>
                </a:solidFill>
                <a:latin typeface="Arial"/>
              </a:rPr>
              <a:t>▸ </a:t>
            </a:r>
            <a:r>
              <a:rPr sz="1100">
                <a:solidFill>
                  <a:srgbClr val="1F2D3D"/>
                </a:solidFill>
                <a:latin typeface="Arial"/>
              </a:rPr>
              <a:t>QR scan → зөвхөн цэс л харагдана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0A36E"/>
                </a:solidFill>
                <a:latin typeface="Arial"/>
              </a:rPr>
              <a:t>▸ </a:t>
            </a:r>
            <a:r>
              <a:rPr sz="1100">
                <a:solidFill>
                  <a:srgbClr val="1F2D3D"/>
                </a:solidFill>
                <a:latin typeface="Arial"/>
              </a:rPr>
              <a:t>Захиалгад session JWT шаардлагатай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0A36E"/>
                </a:solidFill>
                <a:latin typeface="Arial"/>
              </a:rPr>
              <a:t>▸ </a:t>
            </a:r>
            <a:r>
              <a:rPr sz="1100">
                <a:solidFill>
                  <a:srgbClr val="1F2D3D"/>
                </a:solidFill>
                <a:latin typeface="Arial"/>
              </a:rPr>
              <a:t>Session хаагдах → JWT 401 буцаана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Рестораны ширээ захиалга, цэс удирдлагын систем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000" b="0">
                <a:solidFill>
                  <a:srgbClr val="6B7685"/>
                </a:solidFill>
                <a:latin typeface="Arial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84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14. Олон төхөөрөмжийн дэмжлэг ба хамтын сагс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E0E9F7"/>
                </a:solidFill>
                <a:latin typeface="Arial"/>
              </a:rPr>
              <a:t>session_participants + shared_cart_items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808153"/>
            <a:ext cx="3657600" cy="2286000"/>
          </a:xfrm>
          <a:prstGeom prst="roundRect">
            <a:avLst>
              <a:gd name="adj" fmla="val 12000"/>
            </a:avLst>
          </a:prstGeom>
          <a:solidFill>
            <a:srgbClr val="8B4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0" y="2082473"/>
            <a:ext cx="3657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🍽 Ширээ #5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676833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capacity =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134033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FFE0B0"/>
                </a:solidFill>
                <a:latin typeface="Arial"/>
              </a:rPr>
              <a:t>qr_token (stable)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1076633"/>
            <a:ext cx="1554480" cy="182880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103120" y="1259513"/>
            <a:ext cx="1005840" cy="1280160"/>
          </a:xfrm>
          <a:prstGeom prst="roundRect">
            <a:avLst>
              <a:gd name="adj" fmla="val 12000"/>
            </a:avLst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03120" y="1533833"/>
            <a:ext cx="1005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Arial"/>
              </a:rPr>
              <a:t>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945313"/>
            <a:ext cx="10058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rial"/>
              </a:rPr>
              <a:t>Сагс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Arial"/>
              </a:rPr>
              <a:t>(хамтын)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539673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>
                <a:solidFill>
                  <a:srgbClr val="1F2D3D"/>
                </a:solidFill>
                <a:latin typeface="Arial"/>
              </a:rPr>
              <a:t>А зочин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1076633"/>
            <a:ext cx="1554480" cy="182880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961120" y="1259513"/>
            <a:ext cx="1005840" cy="1280160"/>
          </a:xfrm>
          <a:prstGeom prst="roundRect">
            <a:avLst>
              <a:gd name="adj" fmla="val 12000"/>
            </a:avLst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0" y="1533833"/>
            <a:ext cx="1005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Arial"/>
              </a:rPr>
              <a:t>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945313"/>
            <a:ext cx="10058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rial"/>
              </a:rPr>
              <a:t>Сагс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Arial"/>
              </a:rPr>
              <a:t>(хамтын)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539673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>
                <a:solidFill>
                  <a:srgbClr val="1F2D3D"/>
                </a:solidFill>
                <a:latin typeface="Arial"/>
              </a:rPr>
              <a:t>Б зочин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93694" y="2872001"/>
            <a:ext cx="1554480" cy="182880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103120" y="3019733"/>
            <a:ext cx="1005840" cy="1280160"/>
          </a:xfrm>
          <a:prstGeom prst="roundRect">
            <a:avLst>
              <a:gd name="adj" fmla="val 12000"/>
            </a:avLst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03120" y="3294053"/>
            <a:ext cx="1005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400" b="0" dirty="0">
                <a:solidFill>
                  <a:srgbClr val="FFFFFF"/>
                </a:solidFill>
                <a:latin typeface="Arial"/>
              </a:rPr>
              <a:t>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3646417"/>
            <a:ext cx="10058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800" b="0" dirty="0" err="1">
                <a:solidFill>
                  <a:srgbClr val="FFFFFF"/>
                </a:solidFill>
                <a:latin typeface="Arial"/>
              </a:rPr>
              <a:t>Сагс</a:t>
            </a:r>
            <a:endParaRPr sz="800" b="0" dirty="0">
              <a:solidFill>
                <a:srgbClr val="FFFFFF"/>
              </a:solidFill>
              <a:latin typeface="Arial"/>
            </a:endParaRPr>
          </a:p>
          <a:p>
            <a:pPr algn="ctr"/>
            <a:r>
              <a:rPr sz="800" b="0" dirty="0">
                <a:solidFill>
                  <a:srgbClr val="FFFFFF"/>
                </a:solidFill>
                <a:latin typeface="Arial"/>
              </a:rPr>
              <a:t>(</a:t>
            </a:r>
            <a:r>
              <a:rPr sz="800" b="0" dirty="0" err="1">
                <a:solidFill>
                  <a:srgbClr val="FFFFFF"/>
                </a:solidFill>
                <a:latin typeface="Arial"/>
              </a:rPr>
              <a:t>хамтын</a:t>
            </a:r>
            <a:r>
              <a:rPr sz="800" b="0" dirty="0">
                <a:solidFill>
                  <a:srgbClr val="FFFFFF"/>
                </a:solidFill>
                <a:latin typeface="Arial"/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79640" y="4253437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dirty="0">
                <a:solidFill>
                  <a:srgbClr val="1F2D3D"/>
                </a:solidFill>
                <a:latin typeface="Arial"/>
              </a:rPr>
              <a:t>В </a:t>
            </a:r>
            <a:r>
              <a:rPr sz="1100" b="1" dirty="0" err="1">
                <a:solidFill>
                  <a:srgbClr val="1F2D3D"/>
                </a:solidFill>
                <a:latin typeface="Arial"/>
              </a:rPr>
              <a:t>зочин</a:t>
            </a:r>
            <a:endParaRPr sz="1100" b="1" dirty="0">
              <a:solidFill>
                <a:srgbClr val="1F2D3D"/>
              </a:solidFill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697617" y="2853075"/>
            <a:ext cx="1554480" cy="182880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961120" y="3084379"/>
            <a:ext cx="1005840" cy="1280160"/>
          </a:xfrm>
          <a:prstGeom prst="roundRect">
            <a:avLst>
              <a:gd name="adj" fmla="val 12000"/>
            </a:avLst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61120" y="3358699"/>
            <a:ext cx="1005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Arial"/>
              </a:rPr>
              <a:t>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709958"/>
            <a:ext cx="10058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800" b="0" dirty="0" err="1">
                <a:solidFill>
                  <a:srgbClr val="FFFFFF"/>
                </a:solidFill>
                <a:latin typeface="Arial"/>
              </a:rPr>
              <a:t>Сагс</a:t>
            </a:r>
            <a:endParaRPr sz="800" b="0" dirty="0">
              <a:solidFill>
                <a:srgbClr val="FFFFFF"/>
              </a:solidFill>
              <a:latin typeface="Arial"/>
            </a:endParaRPr>
          </a:p>
          <a:p>
            <a:pPr algn="ctr"/>
            <a:r>
              <a:rPr sz="800" b="0" dirty="0">
                <a:solidFill>
                  <a:srgbClr val="FFFFFF"/>
                </a:solidFill>
                <a:latin typeface="Arial"/>
              </a:rPr>
              <a:t>(</a:t>
            </a:r>
            <a:r>
              <a:rPr sz="800" b="0" dirty="0" err="1">
                <a:solidFill>
                  <a:srgbClr val="FFFFFF"/>
                </a:solidFill>
                <a:latin typeface="Arial"/>
              </a:rPr>
              <a:t>хамтын</a:t>
            </a:r>
            <a:r>
              <a:rPr sz="800" b="0" dirty="0">
                <a:solidFill>
                  <a:srgbClr val="FFFFFF"/>
                </a:solidFill>
                <a:latin typeface="Arial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37640" y="4335041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>
                <a:solidFill>
                  <a:srgbClr val="1F2D3D"/>
                </a:solidFill>
                <a:latin typeface="Arial"/>
              </a:rPr>
              <a:t>Г зочин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Рестораны ширээ захиалга, цэс удирдлагын систем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000" b="0">
                <a:solidFill>
                  <a:srgbClr val="6B7685"/>
                </a:solidFill>
                <a:latin typeface="Arial"/>
              </a:rPr>
              <a:t>15 / 20</a:t>
            </a:r>
          </a:p>
        </p:txBody>
      </p:sp>
      <p:sp>
        <p:nvSpPr>
          <p:cNvPr id="38" name="Rounded Rectangle 28">
            <a:extLst>
              <a:ext uri="{FF2B5EF4-FFF2-40B4-BE49-F238E27FC236}">
                <a16:creationId xmlns:a16="http://schemas.microsoft.com/office/drawing/2014/main" id="{57AF4E73-DA55-BC0C-CD65-211FAEB33886}"/>
              </a:ext>
            </a:extLst>
          </p:cNvPr>
          <p:cNvSpPr/>
          <p:nvPr/>
        </p:nvSpPr>
        <p:spPr>
          <a:xfrm>
            <a:off x="472287" y="4960620"/>
            <a:ext cx="11247120" cy="146304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dirty="0" err="1">
                <a:solidFill>
                  <a:srgbClr val="184AC4"/>
                </a:solidFill>
                <a:latin typeface="Arial"/>
              </a:rPr>
              <a:t>Ажиллах</a:t>
            </a:r>
            <a:r>
              <a:rPr sz="1400" b="1" dirty="0">
                <a:solidFill>
                  <a:srgbClr val="184AC4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84AC4"/>
                </a:solidFill>
                <a:latin typeface="Arial"/>
              </a:rPr>
              <a:t>зарчим</a:t>
            </a:r>
            <a:endParaRPr sz="1400" b="1" dirty="0">
              <a:solidFill>
                <a:srgbClr val="184AC4"/>
              </a:solidFill>
              <a:latin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40080" y="530352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dirty="0">
                <a:solidFill>
                  <a:srgbClr val="1F2D3D"/>
                </a:solidFill>
                <a:latin typeface="Arial"/>
              </a:rPr>
              <a:t>▸  </a:t>
            </a:r>
            <a:r>
              <a:rPr sz="1200" b="0" dirty="0" err="1">
                <a:solidFill>
                  <a:srgbClr val="1F2D3D"/>
                </a:solidFill>
                <a:latin typeface="Arial"/>
              </a:rPr>
              <a:t>Бүх</a:t>
            </a:r>
            <a:r>
              <a:rPr sz="1200" b="0" dirty="0">
                <a:solidFill>
                  <a:srgbClr val="1F2D3D"/>
                </a:solidFill>
                <a:latin typeface="Arial"/>
              </a:rPr>
              <a:t> 4 </a:t>
            </a:r>
            <a:r>
              <a:rPr sz="1200" b="0" dirty="0" err="1">
                <a:solidFill>
                  <a:srgbClr val="1F2D3D"/>
                </a:solidFill>
                <a:latin typeface="Arial"/>
              </a:rPr>
              <a:t>зочин</a:t>
            </a:r>
            <a:r>
              <a:rPr sz="1200" b="0" dirty="0">
                <a:solidFill>
                  <a:srgbClr val="1F2D3D"/>
                </a:solidFill>
                <a:latin typeface="Arial"/>
              </a:rPr>
              <a:t> QR-</a:t>
            </a:r>
            <a:r>
              <a:rPr sz="1200" b="0" dirty="0" err="1">
                <a:solidFill>
                  <a:srgbClr val="1F2D3D"/>
                </a:solidFill>
                <a:latin typeface="Arial"/>
              </a:rPr>
              <a:t>ыг</a:t>
            </a:r>
            <a:r>
              <a:rPr sz="1200" b="0" dirty="0">
                <a:solidFill>
                  <a:srgbClr val="1F2D3D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F2D3D"/>
                </a:solidFill>
                <a:latin typeface="Arial"/>
              </a:rPr>
              <a:t>скан</a:t>
            </a:r>
            <a:r>
              <a:rPr sz="1200" b="0" dirty="0">
                <a:solidFill>
                  <a:srgbClr val="1F2D3D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F2D3D"/>
                </a:solidFill>
                <a:latin typeface="Arial"/>
              </a:rPr>
              <a:t>хийж</a:t>
            </a:r>
            <a:r>
              <a:rPr sz="1200" b="0" dirty="0">
                <a:solidFill>
                  <a:srgbClr val="1F2D3D"/>
                </a:solidFill>
                <a:latin typeface="Arial"/>
              </a:rPr>
              <a:t> check-in → 4 </a:t>
            </a:r>
            <a:r>
              <a:rPr sz="1200" b="0" dirty="0" err="1">
                <a:solidFill>
                  <a:srgbClr val="1F2D3D"/>
                </a:solidFill>
                <a:latin typeface="Arial"/>
              </a:rPr>
              <a:t>өөр</a:t>
            </a:r>
            <a:r>
              <a:rPr sz="1200" b="0" dirty="0">
                <a:solidFill>
                  <a:srgbClr val="1F2D3D"/>
                </a:solidFill>
                <a:latin typeface="Arial"/>
              </a:rPr>
              <a:t> session JWT </a:t>
            </a:r>
            <a:r>
              <a:rPr sz="1200" b="0" dirty="0" err="1">
                <a:solidFill>
                  <a:srgbClr val="1F2D3D"/>
                </a:solidFill>
                <a:latin typeface="Arial"/>
              </a:rPr>
              <a:t>олгогдоно</a:t>
            </a:r>
            <a:endParaRPr sz="1200" b="0" dirty="0">
              <a:solidFill>
                <a:srgbClr val="1F2D3D"/>
              </a:solidFill>
              <a:latin typeface="Arial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40080" y="562356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Arial"/>
              </a:rPr>
              <a:t>▸  capacity-driven limit: 4 хүний ширээнд хамгийн ихдээ 4 төхөөрөмж (5 дахь нь 429 session_full)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dirty="0">
                <a:solidFill>
                  <a:srgbClr val="1F2D3D"/>
                </a:solidFill>
                <a:latin typeface="Arial"/>
              </a:rPr>
              <a:t>▸  Сагсанд </a:t>
            </a:r>
            <a:r>
              <a:rPr sz="1200" b="0" dirty="0" err="1">
                <a:solidFill>
                  <a:srgbClr val="1F2D3D"/>
                </a:solidFill>
                <a:latin typeface="Arial"/>
              </a:rPr>
              <a:t>нэмэх</a:t>
            </a:r>
            <a:r>
              <a:rPr sz="1200" b="0" dirty="0">
                <a:solidFill>
                  <a:srgbClr val="1F2D3D"/>
                </a:solidFill>
                <a:latin typeface="Arial"/>
              </a:rPr>
              <a:t> → </a:t>
            </a:r>
            <a:r>
              <a:rPr sz="1200" b="0" dirty="0" err="1">
                <a:solidFill>
                  <a:srgbClr val="1F2D3D"/>
                </a:solidFill>
                <a:latin typeface="Arial"/>
              </a:rPr>
              <a:t>cart:updated</a:t>
            </a:r>
            <a:r>
              <a:rPr sz="1200" b="0" dirty="0">
                <a:solidFill>
                  <a:srgbClr val="1F2D3D"/>
                </a:solidFill>
                <a:latin typeface="Arial"/>
              </a:rPr>
              <a:t> event → </a:t>
            </a:r>
            <a:r>
              <a:rPr sz="1200" b="0" dirty="0" err="1">
                <a:solidFill>
                  <a:srgbClr val="1F2D3D"/>
                </a:solidFill>
                <a:latin typeface="Arial"/>
              </a:rPr>
              <a:t>бүх</a:t>
            </a:r>
            <a:r>
              <a:rPr sz="1200" b="0" dirty="0">
                <a:solidFill>
                  <a:srgbClr val="1F2D3D"/>
                </a:solidFill>
                <a:latin typeface="Arial"/>
              </a:rPr>
              <a:t> 4 </a:t>
            </a:r>
            <a:r>
              <a:rPr sz="1200" b="0" dirty="0" err="1">
                <a:solidFill>
                  <a:srgbClr val="1F2D3D"/>
                </a:solidFill>
                <a:latin typeface="Arial"/>
              </a:rPr>
              <a:t>утсанд</a:t>
            </a:r>
            <a:r>
              <a:rPr sz="1200" b="0" dirty="0">
                <a:solidFill>
                  <a:srgbClr val="1F2D3D"/>
                </a:solidFill>
                <a:latin typeface="Arial"/>
              </a:rPr>
              <a:t> real-time </a:t>
            </a:r>
            <a:r>
              <a:rPr sz="1200" b="0" dirty="0" err="1">
                <a:solidFill>
                  <a:srgbClr val="1F2D3D"/>
                </a:solidFill>
                <a:latin typeface="Arial"/>
              </a:rPr>
              <a:t>нэг</a:t>
            </a:r>
            <a:r>
              <a:rPr sz="1200" b="0" dirty="0">
                <a:solidFill>
                  <a:srgbClr val="1F2D3D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F2D3D"/>
                </a:solidFill>
                <a:latin typeface="Arial"/>
              </a:rPr>
              <a:t>сагсаар</a:t>
            </a:r>
            <a:r>
              <a:rPr sz="1200" b="0" dirty="0">
                <a:solidFill>
                  <a:srgbClr val="1F2D3D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F2D3D"/>
                </a:solidFill>
                <a:latin typeface="Arial"/>
              </a:rPr>
              <a:t>синхрончлогдоно</a:t>
            </a:r>
            <a:endParaRPr sz="1200" b="0" dirty="0">
              <a:solidFill>
                <a:srgbClr val="1F2D3D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84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15. Ажилтны захиалгын самбар (Staff Dashboard)</a:t>
            </a:r>
          </a:p>
        </p:txBody>
      </p:sp>
      <p:pic>
        <p:nvPicPr>
          <p:cNvPr id="4" name="Picture 3" descr="staff-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772400" cy="35715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3832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184AC4"/>
                </a:solidFill>
                <a:latin typeface="Arial"/>
              </a:rPr>
              <a:t>Гол функцууд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73736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84AC4"/>
                </a:solidFill>
                <a:latin typeface="Arial"/>
              </a:rPr>
              <a:t>▸ </a:t>
            </a:r>
            <a:r>
              <a:rPr sz="1100">
                <a:solidFill>
                  <a:srgbClr val="1F2D3D"/>
                </a:solidFill>
                <a:latin typeface="Arial"/>
              </a:rPr>
              <a:t>Захиалгууд card-аар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84AC4"/>
                </a:solidFill>
                <a:latin typeface="Arial"/>
              </a:rPr>
              <a:t>▸ </a:t>
            </a:r>
            <a:r>
              <a:rPr sz="1100">
                <a:solidFill>
                  <a:srgbClr val="1F2D3D"/>
                </a:solidFill>
                <a:latin typeface="Arial"/>
              </a:rPr>
              <a:t>Status filter: all / pending / preparing / ready / served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84AC4"/>
                </a:solidFill>
                <a:latin typeface="Arial"/>
              </a:rPr>
              <a:t>▸ </a:t>
            </a:r>
            <a:r>
              <a:rPr sz="1100">
                <a:solidFill>
                  <a:srgbClr val="1F2D3D"/>
                </a:solidFill>
                <a:latin typeface="Arial"/>
              </a:rPr>
              <a:t>Шинэ захиалга real-time анхаарал татах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84AC4"/>
                </a:solidFill>
                <a:latin typeface="Arial"/>
              </a:rPr>
              <a:t>▸ </a:t>
            </a:r>
            <a:r>
              <a:rPr sz="1100">
                <a:solidFill>
                  <a:srgbClr val="1F2D3D"/>
                </a:solidFill>
                <a:latin typeface="Arial"/>
              </a:rPr>
              <a:t>Status шилжүүлэх (1 click)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84AC4"/>
                </a:solidFill>
                <a:latin typeface="Arial"/>
              </a:rPr>
              <a:t>▸ </a:t>
            </a:r>
            <a:r>
              <a:rPr sz="1100">
                <a:solidFill>
                  <a:srgbClr val="1F2D3D"/>
                </a:solidFill>
                <a:latin typeface="Arial"/>
              </a:rPr>
              <a:t>Ширээний дугаар + цаг + хоолын жагсаалт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84AC4"/>
                </a:solidFill>
                <a:latin typeface="Arial"/>
              </a:rPr>
              <a:t>▸ </a:t>
            </a:r>
            <a:r>
              <a:rPr sz="1100">
                <a:solidFill>
                  <a:srgbClr val="1F2D3D"/>
                </a:solidFill>
                <a:latin typeface="Arial"/>
              </a:rPr>
              <a:t>Notification bell — шинэ event count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84AC4"/>
                </a:solidFill>
                <a:latin typeface="Arial"/>
              </a:rPr>
              <a:t>▸ </a:t>
            </a:r>
            <a:r>
              <a:rPr sz="1100">
                <a:solidFill>
                  <a:srgbClr val="1F2D3D"/>
                </a:solidFill>
                <a:latin typeface="Arial"/>
              </a:rPr>
              <a:t>Захиалгын түүх + огноо/ширээгээр шүүлт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84AC4"/>
                </a:solidFill>
                <a:latin typeface="Arial"/>
              </a:rPr>
              <a:t>▸ </a:t>
            </a:r>
            <a:r>
              <a:rPr sz="1100">
                <a:solidFill>
                  <a:srgbClr val="1F2D3D"/>
                </a:solidFill>
                <a:latin typeface="Arial"/>
              </a:rPr>
              <a:t>Ээлж бүрийн дугаар (өглөө/үд/орой)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Рестораны ширээ захиалга, цэс удирдлагын систем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000" b="0" dirty="0">
                <a:solidFill>
                  <a:srgbClr val="6B7685"/>
                </a:solidFill>
                <a:latin typeface="Arial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84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16. Менежерийн самбар — Цэс, ширээ удирдлага</a:t>
            </a:r>
          </a:p>
        </p:txBody>
      </p:sp>
      <p:pic>
        <p:nvPicPr>
          <p:cNvPr id="4" name="Picture 3" descr="staff-menu-man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760720" cy="2631069"/>
          </a:xfrm>
          <a:prstGeom prst="rect">
            <a:avLst/>
          </a:prstGeom>
        </p:spPr>
      </p:pic>
      <p:pic>
        <p:nvPicPr>
          <p:cNvPr id="5" name="Picture 4" descr="staff-tab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97280"/>
            <a:ext cx="5486400" cy="25016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943600"/>
            <a:ext cx="5760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184AC4"/>
                </a:solidFill>
                <a:latin typeface="Arial"/>
              </a:rPr>
              <a:t>Цэс удирдлага: ангилал, хоол, үнэ, зураг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594360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184AC4"/>
                </a:solidFill>
                <a:latin typeface="Arial"/>
              </a:rPr>
              <a:t>Ширээ удирдлага + QR код хэвлэх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Рестораны ширээ захиалга, цэс удирдлагын систем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000" b="0">
                <a:solidFill>
                  <a:srgbClr val="6B7685"/>
                </a:solidFill>
                <a:latin typeface="Arial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84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17. Тайлан, статистик</a:t>
            </a:r>
          </a:p>
        </p:txBody>
      </p:sp>
      <p:pic>
        <p:nvPicPr>
          <p:cNvPr id="4" name="Picture 3" descr="staff-report-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760720" cy="2032659"/>
          </a:xfrm>
          <a:prstGeom prst="rect">
            <a:avLst/>
          </a:prstGeom>
        </p:spPr>
      </p:pic>
      <p:pic>
        <p:nvPicPr>
          <p:cNvPr id="5" name="Picture 4" descr="staff-report-cha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97280"/>
            <a:ext cx="5486400" cy="216621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60" y="5486400"/>
            <a:ext cx="11430000" cy="91440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553212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184AC4"/>
                </a:solidFill>
                <a:latin typeface="Arial"/>
              </a:rPr>
              <a:t>Боломжит тайлангууд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9788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Arial"/>
              </a:rPr>
              <a:t>▸ Өдрийн орлого  ·  ▸ Эрэлттэй хоол ТОП-10  ·  ▸ Ширээний ашиглалт  ·  ▸ Доод хэмжээнд хүрсэн нөөц  ·  ▸ Ээлж тус бүрийн борлуулалт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Рестораны ширээ захиалга, цэс удирдлагын систем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000" b="0">
                <a:solidFill>
                  <a:srgbClr val="6B7685"/>
                </a:solidFill>
                <a:latin typeface="Arial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84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18. Үр дүн — Уламжлалт ба QR системийн харьцуулалт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4114800" cy="548640"/>
          </a:xfrm>
          <a:prstGeom prst="rect">
            <a:avLst/>
          </a:prstGeom>
          <a:solidFill>
            <a:srgbClr val="184AC4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39319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Шалгуур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188720"/>
            <a:ext cx="2286000" cy="548640"/>
          </a:xfrm>
          <a:prstGeom prst="rect">
            <a:avLst/>
          </a:prstGeom>
          <a:solidFill>
            <a:srgbClr val="184AC4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6320" y="1188720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Уламжлалт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1188720"/>
            <a:ext cx="2286000" cy="548640"/>
          </a:xfrm>
          <a:prstGeom prst="rect">
            <a:avLst/>
          </a:prstGeom>
          <a:solidFill>
            <a:srgbClr val="184AC4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0" y="1188720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QR систем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0" y="1188720"/>
            <a:ext cx="2286000" cy="548640"/>
          </a:xfrm>
          <a:prstGeom prst="rect">
            <a:avLst/>
          </a:prstGeom>
          <a:solidFill>
            <a:srgbClr val="184AC4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0" y="1188720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Өөрчлөлт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737360"/>
            <a:ext cx="41148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737360"/>
            <a:ext cx="39319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Arial"/>
              </a:rPr>
              <a:t>Захиалга өгөх хугацаа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737360"/>
            <a:ext cx="22860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46320" y="1737360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0">
                <a:solidFill>
                  <a:srgbClr val="1F2D3D"/>
                </a:solidFill>
                <a:latin typeface="Arial"/>
              </a:rPr>
              <a:t>4.2 мин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1737360"/>
            <a:ext cx="22860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0" y="1737360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0">
                <a:solidFill>
                  <a:srgbClr val="1F2D3D"/>
                </a:solidFill>
                <a:latin typeface="Arial"/>
              </a:rPr>
              <a:t>1.6 мин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0" y="1737360"/>
            <a:ext cx="22860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0" y="1737360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10A36E"/>
                </a:solidFill>
                <a:latin typeface="Arial"/>
              </a:rPr>
              <a:t>−62%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286000"/>
            <a:ext cx="4114800" cy="548640"/>
          </a:xfrm>
          <a:prstGeom prst="rect">
            <a:avLst/>
          </a:prstGeom>
          <a:solidFill>
            <a:srgbClr val="F6F8FC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2286000"/>
            <a:ext cx="39319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Arial"/>
              </a:rPr>
              <a:t>Захиалгын алдааны хувь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2286000"/>
            <a:ext cx="2286000" cy="548640"/>
          </a:xfrm>
          <a:prstGeom prst="rect">
            <a:avLst/>
          </a:prstGeom>
          <a:solidFill>
            <a:srgbClr val="F6F8FC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46320" y="2286000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0">
                <a:solidFill>
                  <a:srgbClr val="1F2D3D"/>
                </a:solidFill>
                <a:latin typeface="Arial"/>
              </a:rPr>
              <a:t>8.0%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0" y="2286000"/>
            <a:ext cx="2286000" cy="548640"/>
          </a:xfrm>
          <a:prstGeom prst="rect">
            <a:avLst/>
          </a:prstGeom>
          <a:solidFill>
            <a:srgbClr val="F6F8FC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0" y="2286000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0">
                <a:solidFill>
                  <a:srgbClr val="1F2D3D"/>
                </a:solidFill>
                <a:latin typeface="Arial"/>
              </a:rPr>
              <a:t>0.5%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0" y="2286000"/>
            <a:ext cx="2286000" cy="548640"/>
          </a:xfrm>
          <a:prstGeom prst="rect">
            <a:avLst/>
          </a:prstGeom>
          <a:solidFill>
            <a:srgbClr val="F6F8FC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18320" y="2286000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10A36E"/>
                </a:solidFill>
                <a:latin typeface="Arial"/>
              </a:rPr>
              <a:t>−94%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2834640"/>
            <a:ext cx="41148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2834640"/>
            <a:ext cx="39319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Arial"/>
              </a:rPr>
              <a:t>Гал тогоонд хүрэх хугацаа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2834640"/>
            <a:ext cx="22860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46320" y="2834640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0">
                <a:solidFill>
                  <a:srgbClr val="1F2D3D"/>
                </a:solidFill>
                <a:latin typeface="Arial"/>
              </a:rPr>
              <a:t>4.2 мин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2834640"/>
            <a:ext cx="22860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2320" y="2834640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0">
                <a:solidFill>
                  <a:srgbClr val="1F2D3D"/>
                </a:solidFill>
                <a:latin typeface="Arial"/>
              </a:rPr>
              <a:t>0.045 мин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26880" y="2834640"/>
            <a:ext cx="22860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18320" y="2834640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10A36E"/>
                </a:solidFill>
                <a:latin typeface="Arial"/>
              </a:rPr>
              <a:t>−99%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383280"/>
            <a:ext cx="4114800" cy="548640"/>
          </a:xfrm>
          <a:prstGeom prst="rect">
            <a:avLst/>
          </a:prstGeom>
          <a:solidFill>
            <a:srgbClr val="F6F8FC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3383280"/>
            <a:ext cx="39319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Arial"/>
              </a:rPr>
              <a:t>Нэг ажилтан хариуцах ширээ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880" y="3383280"/>
            <a:ext cx="2286000" cy="548640"/>
          </a:xfrm>
          <a:prstGeom prst="rect">
            <a:avLst/>
          </a:prstGeom>
          <a:solidFill>
            <a:srgbClr val="F6F8FC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46320" y="3383280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0">
                <a:solidFill>
                  <a:srgbClr val="1F2D3D"/>
                </a:solidFill>
                <a:latin typeface="Arial"/>
              </a:rPr>
              <a:t>8–10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40880" y="3383280"/>
            <a:ext cx="2286000" cy="548640"/>
          </a:xfrm>
          <a:prstGeom prst="rect">
            <a:avLst/>
          </a:prstGeom>
          <a:solidFill>
            <a:srgbClr val="F6F8FC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32320" y="3383280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0">
                <a:solidFill>
                  <a:srgbClr val="1F2D3D"/>
                </a:solidFill>
                <a:latin typeface="Arial"/>
              </a:rPr>
              <a:t>20–30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26880" y="3383280"/>
            <a:ext cx="2286000" cy="548640"/>
          </a:xfrm>
          <a:prstGeom prst="rect">
            <a:avLst/>
          </a:prstGeom>
          <a:solidFill>
            <a:srgbClr val="F6F8FC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418320" y="3383280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10A36E"/>
                </a:solidFill>
                <a:latin typeface="Arial"/>
              </a:rPr>
              <a:t>+150%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3931920"/>
            <a:ext cx="41148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31520" y="3931920"/>
            <a:ext cx="39319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Arial"/>
              </a:rPr>
              <a:t>Тайлан, нэгтгэл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80" y="3931920"/>
            <a:ext cx="22860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846320" y="3931920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0">
                <a:solidFill>
                  <a:srgbClr val="1F2D3D"/>
                </a:solidFill>
                <a:latin typeface="Arial"/>
              </a:rPr>
              <a:t>Гар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40880" y="3931920"/>
            <a:ext cx="22860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132320" y="3931920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0">
                <a:solidFill>
                  <a:srgbClr val="1F2D3D"/>
                </a:solidFill>
                <a:latin typeface="Arial"/>
              </a:rPr>
              <a:t>Автомат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26880" y="3931920"/>
            <a:ext cx="22860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418320" y="3931920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1F2D3D"/>
                </a:solidFill>
                <a:latin typeface="Arial"/>
              </a:rPr>
              <a:t>—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" y="4846320"/>
            <a:ext cx="5486400" cy="1371600"/>
          </a:xfrm>
          <a:prstGeom prst="roundRect">
            <a:avLst>
              <a:gd name="adj" fmla="val 12000"/>
            </a:avLst>
          </a:prstGeom>
          <a:solidFill>
            <a:srgbClr val="E0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22960" y="4937760"/>
            <a:ext cx="50292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0A36E"/>
                </a:solidFill>
                <a:latin typeface="Arial"/>
              </a:rPr>
              <a:t>📊 SUS хэрэглэгчийн үнэлгээ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5349240"/>
            <a:ext cx="50292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1F2D3D"/>
                </a:solidFill>
                <a:latin typeface="Arial"/>
              </a:rPr>
              <a:t>84.2 / 100 (Маш сайн зэрэглэл, Grade A)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" y="576072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28 хэрэглэгчээр (20 зочин + 4 кассир + 4 менежер)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00800" y="4846320"/>
            <a:ext cx="5303520" cy="1371600"/>
          </a:xfrm>
          <a:prstGeom prst="roundRect">
            <a:avLst>
              <a:gd name="adj" fmla="val 12000"/>
            </a:avLst>
          </a:prstGeom>
          <a:solidFill>
            <a:srgbClr val="FDE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583680" y="4937760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E68510"/>
                </a:solidFill>
                <a:latin typeface="Arial"/>
              </a:rPr>
              <a:t>⚡ k6 ачааллын туршилт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0" y="5349240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Arial"/>
              </a:rPr>
              <a:t>API дундаж 120 мс  ·  WebSocket 45 мс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0" y="576072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200 VU, 5 минут, ramp 30s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Рестораны ширээ захиалга, цэс удирдлагын систем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000" b="0">
                <a:solidFill>
                  <a:srgbClr val="6B7685"/>
                </a:solidFill>
                <a:latin typeface="Arial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84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19. Дүгнэлт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669280" cy="521208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3035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10A36E"/>
                </a:solidFill>
                <a:latin typeface="Arial"/>
              </a:rPr>
              <a:t>✅ Хийгдсэн ажил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0A36E"/>
                </a:solidFill>
                <a:latin typeface="Arial"/>
              </a:rPr>
              <a:t>▸ </a:t>
            </a:r>
            <a:r>
              <a:rPr sz="1200">
                <a:solidFill>
                  <a:srgbClr val="1F2D3D"/>
                </a:solidFill>
                <a:latin typeface="Arial"/>
              </a:rPr>
              <a:t>11 хүснэгттэй PostgreSQL schema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0A36E"/>
                </a:solidFill>
                <a:latin typeface="Arial"/>
              </a:rPr>
              <a:t>▸ </a:t>
            </a:r>
            <a:r>
              <a:rPr sz="1200">
                <a:solidFill>
                  <a:srgbClr val="1F2D3D"/>
                </a:solidFill>
                <a:latin typeface="Arial"/>
              </a:rPr>
              <a:t>43 REST API endpoint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0A36E"/>
                </a:solidFill>
                <a:latin typeface="Arial"/>
              </a:rPr>
              <a:t>▸ </a:t>
            </a:r>
            <a:r>
              <a:rPr sz="1200">
                <a:solidFill>
                  <a:srgbClr val="1F2D3D"/>
                </a:solidFill>
                <a:latin typeface="Arial"/>
              </a:rPr>
              <a:t>12 Socket.IO event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0A36E"/>
                </a:solidFill>
                <a:latin typeface="Arial"/>
              </a:rPr>
              <a:t>▸ </a:t>
            </a:r>
            <a:r>
              <a:rPr sz="1200">
                <a:solidFill>
                  <a:srgbClr val="1F2D3D"/>
                </a:solidFill>
                <a:latin typeface="Arial"/>
              </a:rPr>
              <a:t>4 хэрэглэгчийн интерфейс (Зочин/Кассир/Гал тогоо/Менежер)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0A36E"/>
                </a:solidFill>
                <a:latin typeface="Arial"/>
              </a:rPr>
              <a:t>▸ </a:t>
            </a:r>
            <a:r>
              <a:rPr sz="1200">
                <a:solidFill>
                  <a:srgbClr val="1F2D3D"/>
                </a:solidFill>
                <a:latin typeface="Arial"/>
              </a:rPr>
              <a:t>QR хоёр давхарга: stable + ephemeral JWT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0A36E"/>
                </a:solidFill>
                <a:latin typeface="Arial"/>
              </a:rPr>
              <a:t>▸ </a:t>
            </a:r>
            <a:r>
              <a:rPr sz="1200">
                <a:solidFill>
                  <a:srgbClr val="1F2D3D"/>
                </a:solidFill>
                <a:latin typeface="Arial"/>
              </a:rPr>
              <a:t>Multi-device + shared cart real-time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0A36E"/>
                </a:solidFill>
                <a:latin typeface="Arial"/>
              </a:rPr>
              <a:t>▸ </a:t>
            </a:r>
            <a:r>
              <a:rPr sz="1200">
                <a:solidFill>
                  <a:srgbClr val="1F2D3D"/>
                </a:solidFill>
                <a:latin typeface="Arial"/>
              </a:rPr>
              <a:t>QR-гүй public хуудаснууд (4)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0A36E"/>
                </a:solidFill>
                <a:latin typeface="Arial"/>
              </a:rPr>
              <a:t>▸ </a:t>
            </a:r>
            <a:r>
              <a:rPr sz="1200">
                <a:solidFill>
                  <a:srgbClr val="1F2D3D"/>
                </a:solidFill>
                <a:latin typeface="Arial"/>
              </a:rPr>
              <a:t>k6 туршилт + SUS үнэлгээ 84.2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0A36E"/>
                </a:solidFill>
                <a:latin typeface="Arial"/>
              </a:rPr>
              <a:t>▸ </a:t>
            </a:r>
            <a:r>
              <a:rPr sz="1200">
                <a:solidFill>
                  <a:srgbClr val="1F2D3D"/>
                </a:solidFill>
                <a:latin typeface="Arial"/>
              </a:rPr>
              <a:t>Cloudflare Tunnel-аар online demo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5303520" cy="5212080"/>
          </a:xfrm>
          <a:prstGeom prst="roundRect">
            <a:avLst>
              <a:gd name="adj" fmla="val 12000"/>
            </a:avLst>
          </a:prstGeom>
          <a:solidFill>
            <a:srgbClr val="FDE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280160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E68510"/>
                </a:solidFill>
                <a:latin typeface="Arial"/>
              </a:rPr>
              <a:t>🚀 Цаашид хөгжүүлэх боломж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8288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68510"/>
                </a:solidFill>
                <a:latin typeface="Arial"/>
              </a:rPr>
              <a:t>▸ </a:t>
            </a:r>
            <a:r>
              <a:rPr sz="1200">
                <a:solidFill>
                  <a:srgbClr val="1F2D3D"/>
                </a:solidFill>
                <a:latin typeface="Arial"/>
              </a:rPr>
              <a:t>QPay / SocialPay / Monpay цахим төлбөр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E68510"/>
                </a:solidFill>
                <a:latin typeface="Arial"/>
              </a:rPr>
              <a:t>▸ </a:t>
            </a:r>
            <a:r>
              <a:rPr sz="1200">
                <a:solidFill>
                  <a:srgbClr val="1F2D3D"/>
                </a:solidFill>
                <a:latin typeface="Arial"/>
              </a:rPr>
              <a:t>AI-ээс хоол санал болгох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E68510"/>
                </a:solidFill>
                <a:latin typeface="Arial"/>
              </a:rPr>
              <a:t>▸ </a:t>
            </a:r>
            <a:r>
              <a:rPr sz="1200">
                <a:solidFill>
                  <a:srgbClr val="1F2D3D"/>
                </a:solidFill>
                <a:latin typeface="Arial"/>
              </a:rPr>
              <a:t>Олон салбар рестораны модуль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E68510"/>
                </a:solidFill>
                <a:latin typeface="Arial"/>
              </a:rPr>
              <a:t>▸ </a:t>
            </a:r>
            <a:r>
              <a:rPr sz="1200">
                <a:solidFill>
                  <a:srgbClr val="1F2D3D"/>
                </a:solidFill>
                <a:latin typeface="Arial"/>
              </a:rPr>
              <a:t>AR (Augmented Reality) 3D хоолны загвар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E68510"/>
                </a:solidFill>
                <a:latin typeface="Arial"/>
              </a:rPr>
              <a:t>▸ </a:t>
            </a:r>
            <a:r>
              <a:rPr sz="1200">
                <a:solidFill>
                  <a:srgbClr val="1F2D3D"/>
                </a:solidFill>
                <a:latin typeface="Arial"/>
              </a:rPr>
              <a:t>React Native native апп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E68510"/>
                </a:solidFill>
                <a:latin typeface="Arial"/>
              </a:rPr>
              <a:t>▸ </a:t>
            </a:r>
            <a:r>
              <a:rPr sz="1200">
                <a:solidFill>
                  <a:srgbClr val="1F2D3D"/>
                </a:solidFill>
                <a:latin typeface="Arial"/>
              </a:rPr>
              <a:t>Capacity planning / load forecasting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E68510"/>
                </a:solidFill>
                <a:latin typeface="Arial"/>
              </a:rPr>
              <a:t>▸ </a:t>
            </a:r>
            <a:r>
              <a:rPr sz="1200">
                <a:solidFill>
                  <a:srgbClr val="1F2D3D"/>
                </a:solidFill>
                <a:latin typeface="Arial"/>
              </a:rPr>
              <a:t>Loyalty point / membership program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E68510"/>
                </a:solidFill>
                <a:latin typeface="Arial"/>
              </a:rPr>
              <a:t>▸ </a:t>
            </a:r>
            <a:r>
              <a:rPr sz="1200">
                <a:solidFill>
                  <a:srgbClr val="1F2D3D"/>
                </a:solidFill>
                <a:latin typeface="Arial"/>
              </a:rPr>
              <a:t>Multilingual (EN, JP, KR)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Arial"/>
              </a:rPr>
              <a:t>Рестораны ширээ захиалга, цэс удирдлагын систем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000" b="0">
                <a:solidFill>
                  <a:srgbClr val="6B7685"/>
                </a:solidFill>
                <a:latin typeface="Arial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1865</Words>
  <Application>Microsoft Office PowerPoint</Application>
  <PresentationFormat>Widescreen</PresentationFormat>
  <Paragraphs>422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Эрдэнэтөгс Очбадрах</cp:lastModifiedBy>
  <cp:revision>2</cp:revision>
  <dcterms:created xsi:type="dcterms:W3CDTF">2013-01-27T09:14:16Z</dcterms:created>
  <dcterms:modified xsi:type="dcterms:W3CDTF">2026-05-06T03:25:35Z</dcterms:modified>
  <cp:category/>
</cp:coreProperties>
</file>